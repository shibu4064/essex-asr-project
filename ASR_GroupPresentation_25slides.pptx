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1E57AC-8F23-EE42-97B3-616F1A94A332}" v="13" dt="2026-03-22T15:36:25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rithik Majumdar" userId="355d7d57ee7db7e5" providerId="LiveId" clId="{FD340E89-7635-5BCE-BDF5-ABAC23F712BF}"/>
    <pc:docChg chg="undo redo custSel modSld">
      <pc:chgData name="Hrithik Majumdar" userId="355d7d57ee7db7e5" providerId="LiveId" clId="{FD340E89-7635-5BCE-BDF5-ABAC23F712BF}" dt="2026-03-22T23:46:56.169" v="933" actId="1076"/>
      <pc:docMkLst>
        <pc:docMk/>
      </pc:docMkLst>
      <pc:sldChg chg="addSp modSp mod">
        <pc:chgData name="Hrithik Majumdar" userId="355d7d57ee7db7e5" providerId="LiveId" clId="{FD340E89-7635-5BCE-BDF5-ABAC23F712BF}" dt="2026-03-22T15:27:58.828" v="835" actId="20577"/>
        <pc:sldMkLst>
          <pc:docMk/>
          <pc:sldMk cId="0" sldId="256"/>
        </pc:sldMkLst>
        <pc:spChg chg="mod">
          <ac:chgData name="Hrithik Majumdar" userId="355d7d57ee7db7e5" providerId="LiveId" clId="{FD340E89-7635-5BCE-BDF5-ABAC23F712BF}" dt="2026-03-20T22:09:18.007" v="304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05:58.257" v="108" actId="255"/>
          <ac:spMkLst>
            <pc:docMk/>
            <pc:sldMk cId="0" sldId="256"/>
            <ac:spMk id="6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2T15:27:58.828" v="835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34:39.595" v="405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32:35.811" v="396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32:40.106" v="397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32:46.402" v="398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32:50.869" v="399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33:01.077" v="400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33:05.553" v="401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33:09.247" v="402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33:21.528" v="403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32:08.782" v="391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32:14.166" v="392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32:18.992" v="393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32:24.520" v="394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32:30.248" v="395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05:34.797" v="49" actId="20577"/>
          <ac:spMkLst>
            <pc:docMk/>
            <pc:sldMk cId="0" sldId="256"/>
            <ac:spMk id="26" creationId="{00000000-0000-0000-0000-000000000000}"/>
          </ac:spMkLst>
        </pc:spChg>
      </pc:sldChg>
      <pc:sldChg chg="modSp mod">
        <pc:chgData name="Hrithik Majumdar" userId="355d7d57ee7db7e5" providerId="LiveId" clId="{FD340E89-7635-5BCE-BDF5-ABAC23F712BF}" dt="2026-03-22T15:28:29.002" v="836" actId="255"/>
        <pc:sldMkLst>
          <pc:docMk/>
          <pc:sldMk cId="0" sldId="257"/>
        </pc:sldMkLst>
        <pc:spChg chg="mod">
          <ac:chgData name="Hrithik Majumdar" userId="355d7d57ee7db7e5" providerId="LiveId" clId="{FD340E89-7635-5BCE-BDF5-ABAC23F712BF}" dt="2026-03-22T15:28:29.002" v="836" actId="255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Hrithik Majumdar" userId="355d7d57ee7db7e5" providerId="LiveId" clId="{FD340E89-7635-5BCE-BDF5-ABAC23F712BF}" dt="2026-03-22T15:21:53.847" v="770" actId="20577"/>
        <pc:sldMkLst>
          <pc:docMk/>
          <pc:sldMk cId="0" sldId="258"/>
        </pc:sldMkLst>
        <pc:spChg chg="mod">
          <ac:chgData name="Hrithik Majumdar" userId="355d7d57ee7db7e5" providerId="LiveId" clId="{FD340E89-7635-5BCE-BDF5-ABAC23F712BF}" dt="2026-03-20T22:54:58.853" v="604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5:03.174" v="605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2T15:21:53.847" v="770" actId="2057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5:11.597" v="606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5:15.215" v="607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5:22.352" v="608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5:26.473" v="609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2T15:21:13.157" v="764" actId="123"/>
          <ac:spMkLst>
            <pc:docMk/>
            <pc:sldMk cId="0" sldId="258"/>
            <ac:spMk id="32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4:41.729" v="603" actId="20577"/>
          <ac:spMkLst>
            <pc:docMk/>
            <pc:sldMk cId="0" sldId="258"/>
            <ac:spMk id="35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2T15:21:17.651" v="765" actId="123"/>
          <ac:spMkLst>
            <pc:docMk/>
            <pc:sldMk cId="0" sldId="258"/>
            <ac:spMk id="36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2T15:21:22.300" v="766" actId="123"/>
          <ac:spMkLst>
            <pc:docMk/>
            <pc:sldMk cId="0" sldId="258"/>
            <ac:spMk id="40" creationId="{00000000-0000-0000-0000-000000000000}"/>
          </ac:spMkLst>
        </pc:spChg>
      </pc:sldChg>
      <pc:sldChg chg="modSp mod">
        <pc:chgData name="Hrithik Majumdar" userId="355d7d57ee7db7e5" providerId="LiveId" clId="{FD340E89-7635-5BCE-BDF5-ABAC23F712BF}" dt="2026-03-22T15:23:26.890" v="776" actId="123"/>
        <pc:sldMkLst>
          <pc:docMk/>
          <pc:sldMk cId="0" sldId="259"/>
        </pc:sldMkLst>
        <pc:spChg chg="mod">
          <ac:chgData name="Hrithik Majumdar" userId="355d7d57ee7db7e5" providerId="LiveId" clId="{FD340E89-7635-5BCE-BDF5-ABAC23F712BF}" dt="2026-03-22T15:23:10.122" v="771" actId="123"/>
          <ac:spMkLst>
            <pc:docMk/>
            <pc:sldMk cId="0" sldId="259"/>
            <ac:spMk id="10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2T15:23:13.788" v="772" actId="123"/>
          <ac:spMkLst>
            <pc:docMk/>
            <pc:sldMk cId="0" sldId="259"/>
            <ac:spMk id="14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2T15:23:16.795" v="773" actId="123"/>
          <ac:spMkLst>
            <pc:docMk/>
            <pc:sldMk cId="0" sldId="259"/>
            <ac:spMk id="18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2T15:23:20.264" v="774" actId="123"/>
          <ac:spMkLst>
            <pc:docMk/>
            <pc:sldMk cId="0" sldId="259"/>
            <ac:spMk id="22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2T15:23:23.476" v="775" actId="123"/>
          <ac:spMkLst>
            <pc:docMk/>
            <pc:sldMk cId="0" sldId="259"/>
            <ac:spMk id="26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2T15:23:26.890" v="776" actId="123"/>
          <ac:spMkLst>
            <pc:docMk/>
            <pc:sldMk cId="0" sldId="259"/>
            <ac:spMk id="30" creationId="{00000000-0000-0000-0000-000000000000}"/>
          </ac:spMkLst>
        </pc:spChg>
      </pc:sldChg>
      <pc:sldChg chg="addSp modSp mod">
        <pc:chgData name="Hrithik Majumdar" userId="355d7d57ee7db7e5" providerId="LiveId" clId="{FD340E89-7635-5BCE-BDF5-ABAC23F712BF}" dt="2026-03-22T23:46:20.529" v="932" actId="255"/>
        <pc:sldMkLst>
          <pc:docMk/>
          <pc:sldMk cId="0" sldId="262"/>
        </pc:sldMkLst>
        <pc:spChg chg="mod">
          <ac:chgData name="Hrithik Majumdar" userId="355d7d57ee7db7e5" providerId="LiveId" clId="{FD340E89-7635-5BCE-BDF5-ABAC23F712BF}" dt="2026-03-20T22:56:08.823" v="615" actId="1076"/>
          <ac:spMkLst>
            <pc:docMk/>
            <pc:sldMk cId="0" sldId="262"/>
            <ac:spMk id="43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6:08.060" v="614" actId="1076"/>
          <ac:spMkLst>
            <pc:docMk/>
            <pc:sldMk cId="0" sldId="262"/>
            <ac:spMk id="45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6:07.655" v="613" actId="1076"/>
          <ac:spMkLst>
            <pc:docMk/>
            <pc:sldMk cId="0" sldId="262"/>
            <ac:spMk id="47" creationId="{00000000-0000-0000-0000-000000000000}"/>
          </ac:spMkLst>
        </pc:spChg>
        <pc:spChg chg="add mod">
          <ac:chgData name="Hrithik Majumdar" userId="355d7d57ee7db7e5" providerId="LiveId" clId="{FD340E89-7635-5BCE-BDF5-ABAC23F712BF}" dt="2026-03-22T23:46:20.529" v="932" actId="255"/>
          <ac:spMkLst>
            <pc:docMk/>
            <pc:sldMk cId="0" sldId="262"/>
            <ac:spMk id="49" creationId="{8EE0003E-4494-A519-3A48-1B304B7A141C}"/>
          </ac:spMkLst>
        </pc:spChg>
        <pc:spChg chg="add mod">
          <ac:chgData name="Hrithik Majumdar" userId="355d7d57ee7db7e5" providerId="LiveId" clId="{FD340E89-7635-5BCE-BDF5-ABAC23F712BF}" dt="2026-03-22T15:32:44.169" v="842" actId="14100"/>
          <ac:spMkLst>
            <pc:docMk/>
            <pc:sldMk cId="0" sldId="262"/>
            <ac:spMk id="50" creationId="{23394175-7E93-6FE3-8522-B52D0654A3ED}"/>
          </ac:spMkLst>
        </pc:spChg>
      </pc:sldChg>
      <pc:sldChg chg="modSp mod">
        <pc:chgData name="Hrithik Majumdar" userId="355d7d57ee7db7e5" providerId="LiveId" clId="{FD340E89-7635-5BCE-BDF5-ABAC23F712BF}" dt="2026-03-22T23:46:56.169" v="933" actId="1076"/>
        <pc:sldMkLst>
          <pc:docMk/>
          <pc:sldMk cId="0" sldId="263"/>
        </pc:sldMkLst>
        <pc:spChg chg="mod">
          <ac:chgData name="Hrithik Majumdar" userId="355d7d57ee7db7e5" providerId="LiveId" clId="{FD340E89-7635-5BCE-BDF5-ABAC23F712BF}" dt="2026-03-20T22:58:04.767" v="637" actId="1038"/>
          <ac:spMkLst>
            <pc:docMk/>
            <pc:sldMk cId="0" sldId="263"/>
            <ac:spMk id="3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6:44.188" v="619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2T23:46:56.169" v="933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6:36.923" v="618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6:53.548" v="621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7:13.746" v="624" actId="123"/>
          <ac:spMkLst>
            <pc:docMk/>
            <pc:sldMk cId="0" sldId="263"/>
            <ac:spMk id="14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7:19.283" v="625" actId="123"/>
          <ac:spMkLst>
            <pc:docMk/>
            <pc:sldMk cId="0" sldId="263"/>
            <ac:spMk id="20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7:28.058" v="627"/>
          <ac:spMkLst>
            <pc:docMk/>
            <pc:sldMk cId="0" sldId="263"/>
            <ac:spMk id="26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7:41.109" v="628" actId="123"/>
          <ac:spMkLst>
            <pc:docMk/>
            <pc:sldMk cId="0" sldId="263"/>
            <ac:spMk id="34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7:52.382" v="631"/>
          <ac:spMkLst>
            <pc:docMk/>
            <pc:sldMk cId="0" sldId="263"/>
            <ac:spMk id="40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7:48.959" v="630" actId="123"/>
          <ac:spMkLst>
            <pc:docMk/>
            <pc:sldMk cId="0" sldId="263"/>
            <ac:spMk id="46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7:56.040" v="632" actId="123"/>
          <ac:spMkLst>
            <pc:docMk/>
            <pc:sldMk cId="0" sldId="263"/>
            <ac:spMk id="52" creationId="{00000000-0000-0000-0000-000000000000}"/>
          </ac:spMkLst>
        </pc:spChg>
      </pc:sldChg>
      <pc:sldChg chg="modSp mod">
        <pc:chgData name="Hrithik Majumdar" userId="355d7d57ee7db7e5" providerId="LiveId" clId="{FD340E89-7635-5BCE-BDF5-ABAC23F712BF}" dt="2026-03-20T23:00:05.463" v="638" actId="1076"/>
        <pc:sldMkLst>
          <pc:docMk/>
          <pc:sldMk cId="0" sldId="266"/>
        </pc:sldMkLst>
        <pc:spChg chg="mod">
          <ac:chgData name="Hrithik Majumdar" userId="355d7d57ee7db7e5" providerId="LiveId" clId="{FD340E89-7635-5BCE-BDF5-ABAC23F712BF}" dt="2026-03-20T23:00:05.463" v="638" actId="1076"/>
          <ac:spMkLst>
            <pc:docMk/>
            <pc:sldMk cId="0" sldId="266"/>
            <ac:spMk id="75" creationId="{00000000-0000-0000-0000-000000000000}"/>
          </ac:spMkLst>
        </pc:spChg>
      </pc:sldChg>
      <pc:sldChg chg="modSp mod">
        <pc:chgData name="Hrithik Majumdar" userId="355d7d57ee7db7e5" providerId="LiveId" clId="{FD340E89-7635-5BCE-BDF5-ABAC23F712BF}" dt="2026-03-20T23:00:50.583" v="642" actId="1076"/>
        <pc:sldMkLst>
          <pc:docMk/>
          <pc:sldMk cId="0" sldId="267"/>
        </pc:sldMkLst>
        <pc:spChg chg="mod">
          <ac:chgData name="Hrithik Majumdar" userId="355d7d57ee7db7e5" providerId="LiveId" clId="{FD340E89-7635-5BCE-BDF5-ABAC23F712BF}" dt="2026-03-20T23:00:50.583" v="642" actId="1076"/>
          <ac:spMkLst>
            <pc:docMk/>
            <pc:sldMk cId="0" sldId="267"/>
            <ac:spMk id="6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3:00:47.430" v="641" actId="14100"/>
          <ac:spMkLst>
            <pc:docMk/>
            <pc:sldMk cId="0" sldId="267"/>
            <ac:spMk id="59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3:00:21.922" v="639" actId="1076"/>
          <ac:spMkLst>
            <pc:docMk/>
            <pc:sldMk cId="0" sldId="267"/>
            <ac:spMk id="60" creationId="{00000000-0000-0000-0000-000000000000}"/>
          </ac:spMkLst>
        </pc:spChg>
      </pc:sldChg>
      <pc:sldChg chg="modSp mod">
        <pc:chgData name="Hrithik Majumdar" userId="355d7d57ee7db7e5" providerId="LiveId" clId="{FD340E89-7635-5BCE-BDF5-ABAC23F712BF}" dt="2026-03-20T23:02:22.644" v="645" actId="1076"/>
        <pc:sldMkLst>
          <pc:docMk/>
          <pc:sldMk cId="0" sldId="271"/>
        </pc:sldMkLst>
        <pc:spChg chg="mod">
          <ac:chgData name="Hrithik Majumdar" userId="355d7d57ee7db7e5" providerId="LiveId" clId="{FD340E89-7635-5BCE-BDF5-ABAC23F712BF}" dt="2026-03-20T23:02:13.621" v="644" actId="14100"/>
          <ac:spMkLst>
            <pc:docMk/>
            <pc:sldMk cId="0" sldId="271"/>
            <ac:spMk id="127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3:02:22.644" v="645" actId="1076"/>
          <ac:spMkLst>
            <pc:docMk/>
            <pc:sldMk cId="0" sldId="271"/>
            <ac:spMk id="139" creationId="{00000000-0000-0000-0000-000000000000}"/>
          </ac:spMkLst>
        </pc:spChg>
      </pc:sldChg>
      <pc:sldChg chg="addSp delSp modSp mod">
        <pc:chgData name="Hrithik Majumdar" userId="355d7d57ee7db7e5" providerId="LiveId" clId="{FD340E89-7635-5BCE-BDF5-ABAC23F712BF}" dt="2026-03-20T22:53:16.110" v="548" actId="1076"/>
        <pc:sldMkLst>
          <pc:docMk/>
          <pc:sldMk cId="0" sldId="274"/>
        </pc:sldMkLst>
        <pc:spChg chg="mod">
          <ac:chgData name="Hrithik Majumdar" userId="355d7d57ee7db7e5" providerId="LiveId" clId="{FD340E89-7635-5BCE-BDF5-ABAC23F712BF}" dt="2026-03-20T22:39:21.746" v="432" actId="1076"/>
          <ac:spMkLst>
            <pc:docMk/>
            <pc:sldMk cId="0" sldId="274"/>
            <ac:spMk id="7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39:26.154" v="433" actId="1076"/>
          <ac:spMkLst>
            <pc:docMk/>
            <pc:sldMk cId="0" sldId="274"/>
            <ac:spMk id="8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0:28.997" v="449" actId="1076"/>
          <ac:spMkLst>
            <pc:docMk/>
            <pc:sldMk cId="0" sldId="274"/>
            <ac:spMk id="9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3:16.110" v="548" actId="1076"/>
          <ac:spMkLst>
            <pc:docMk/>
            <pc:sldMk cId="0" sldId="274"/>
            <ac:spMk id="10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0:34.349" v="450" actId="107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3:12.094" v="547" actId="1076"/>
          <ac:spMkLst>
            <pc:docMk/>
            <pc:sldMk cId="0" sldId="274"/>
            <ac:spMk id="12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0:43.630" v="452" actId="1076"/>
          <ac:spMkLst>
            <pc:docMk/>
            <pc:sldMk cId="0" sldId="274"/>
            <ac:spMk id="13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3:07.854" v="546" actId="1076"/>
          <ac:spMkLst>
            <pc:docMk/>
            <pc:sldMk cId="0" sldId="274"/>
            <ac:spMk id="14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3:00.780" v="545" actId="14100"/>
          <ac:spMkLst>
            <pc:docMk/>
            <pc:sldMk cId="0" sldId="274"/>
            <ac:spMk id="15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6:49.436" v="508" actId="1076"/>
          <ac:spMkLst>
            <pc:docMk/>
            <pc:sldMk cId="0" sldId="274"/>
            <ac:spMk id="16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39:29.979" v="434" actId="14100"/>
          <ac:spMkLst>
            <pc:docMk/>
            <pc:sldMk cId="0" sldId="274"/>
            <ac:spMk id="18" creationId="{00000000-0000-0000-0000-000000000000}"/>
          </ac:spMkLst>
        </pc:spChg>
        <pc:spChg chg="add del mod">
          <ac:chgData name="Hrithik Majumdar" userId="355d7d57ee7db7e5" providerId="LiveId" clId="{FD340E89-7635-5BCE-BDF5-ABAC23F712BF}" dt="2026-03-20T22:39:50.687" v="439" actId="14100"/>
          <ac:spMkLst>
            <pc:docMk/>
            <pc:sldMk cId="0" sldId="274"/>
            <ac:spMk id="19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4:05.345" v="477" actId="14100"/>
          <ac:spMkLst>
            <pc:docMk/>
            <pc:sldMk cId="0" sldId="274"/>
            <ac:spMk id="22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5:06.753" v="491" actId="14100"/>
          <ac:spMkLst>
            <pc:docMk/>
            <pc:sldMk cId="0" sldId="274"/>
            <ac:spMk id="24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2:46.111" v="543" actId="1076"/>
          <ac:spMkLst>
            <pc:docMk/>
            <pc:sldMk cId="0" sldId="274"/>
            <ac:spMk id="26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39:39.916" v="436" actId="14100"/>
          <ac:spMkLst>
            <pc:docMk/>
            <pc:sldMk cId="0" sldId="274"/>
            <ac:spMk id="28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1:21.746" v="454" actId="1076"/>
          <ac:spMkLst>
            <pc:docMk/>
            <pc:sldMk cId="0" sldId="274"/>
            <ac:spMk id="29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0:20.786" v="448" actId="14100"/>
          <ac:spMkLst>
            <pc:docMk/>
            <pc:sldMk cId="0" sldId="274"/>
            <ac:spMk id="30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4:12.843" v="479" actId="1076"/>
          <ac:spMkLst>
            <pc:docMk/>
            <pc:sldMk cId="0" sldId="274"/>
            <ac:spMk id="32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5:13.892" v="493" actId="1076"/>
          <ac:spMkLst>
            <pc:docMk/>
            <pc:sldMk cId="0" sldId="274"/>
            <ac:spMk id="34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2:43.265" v="542" actId="1076"/>
          <ac:spMkLst>
            <pc:docMk/>
            <pc:sldMk cId="0" sldId="274"/>
            <ac:spMk id="36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1:34.477" v="455" actId="1076"/>
          <ac:spMkLst>
            <pc:docMk/>
            <pc:sldMk cId="0" sldId="274"/>
            <ac:spMk id="38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2:12.739" v="463" actId="14100"/>
          <ac:spMkLst>
            <pc:docMk/>
            <pc:sldMk cId="0" sldId="274"/>
            <ac:spMk id="39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2:09.144" v="462" actId="1076"/>
          <ac:spMkLst>
            <pc:docMk/>
            <pc:sldMk cId="0" sldId="274"/>
            <ac:spMk id="40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4:20.651" v="482" actId="1076"/>
          <ac:spMkLst>
            <pc:docMk/>
            <pc:sldMk cId="0" sldId="274"/>
            <ac:spMk id="42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5:19.508" v="494" actId="1076"/>
          <ac:spMkLst>
            <pc:docMk/>
            <pc:sldMk cId="0" sldId="274"/>
            <ac:spMk id="44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9:41.672" v="522" actId="14100"/>
          <ac:spMkLst>
            <pc:docMk/>
            <pc:sldMk cId="0" sldId="274"/>
            <ac:spMk id="46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1:39.108" v="456" actId="1076"/>
          <ac:spMkLst>
            <pc:docMk/>
            <pc:sldMk cId="0" sldId="274"/>
            <ac:spMk id="48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2:26.134" v="466" actId="14100"/>
          <ac:spMkLst>
            <pc:docMk/>
            <pc:sldMk cId="0" sldId="274"/>
            <ac:spMk id="49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2:17.347" v="464" actId="1076"/>
          <ac:spMkLst>
            <pc:docMk/>
            <pc:sldMk cId="0" sldId="274"/>
            <ac:spMk id="50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4:28.373" v="484" actId="14100"/>
          <ac:spMkLst>
            <pc:docMk/>
            <pc:sldMk cId="0" sldId="274"/>
            <ac:spMk id="52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5:24.357" v="495" actId="1076"/>
          <ac:spMkLst>
            <pc:docMk/>
            <pc:sldMk cId="0" sldId="274"/>
            <ac:spMk id="54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2:29.295" v="538" actId="1076"/>
          <ac:spMkLst>
            <pc:docMk/>
            <pc:sldMk cId="0" sldId="274"/>
            <ac:spMk id="56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1:42.814" v="457" actId="1076"/>
          <ac:spMkLst>
            <pc:docMk/>
            <pc:sldMk cId="0" sldId="274"/>
            <ac:spMk id="58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2:47.894" v="470" actId="1076"/>
          <ac:spMkLst>
            <pc:docMk/>
            <pc:sldMk cId="0" sldId="274"/>
            <ac:spMk id="59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2:57.233" v="471" actId="1076"/>
          <ac:spMkLst>
            <pc:docMk/>
            <pc:sldMk cId="0" sldId="274"/>
            <ac:spMk id="60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4:36.230" v="486" actId="14100"/>
          <ac:spMkLst>
            <pc:docMk/>
            <pc:sldMk cId="0" sldId="274"/>
            <ac:spMk id="62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5:30.975" v="496" actId="1076"/>
          <ac:spMkLst>
            <pc:docMk/>
            <pc:sldMk cId="0" sldId="274"/>
            <ac:spMk id="64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2:32.057" v="539" actId="1076"/>
          <ac:spMkLst>
            <pc:docMk/>
            <pc:sldMk cId="0" sldId="274"/>
            <ac:spMk id="66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1:47.711" v="458" actId="1076"/>
          <ac:spMkLst>
            <pc:docMk/>
            <pc:sldMk cId="0" sldId="274"/>
            <ac:spMk id="68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3:02.161" v="473" actId="14100"/>
          <ac:spMkLst>
            <pc:docMk/>
            <pc:sldMk cId="0" sldId="274"/>
            <ac:spMk id="69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3:10.158" v="474" actId="1076"/>
          <ac:spMkLst>
            <pc:docMk/>
            <pc:sldMk cId="0" sldId="274"/>
            <ac:spMk id="70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4:52.192" v="489" actId="14100"/>
          <ac:spMkLst>
            <pc:docMk/>
            <pc:sldMk cId="0" sldId="274"/>
            <ac:spMk id="72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5:35.806" v="497" actId="1076"/>
          <ac:spMkLst>
            <pc:docMk/>
            <pc:sldMk cId="0" sldId="274"/>
            <ac:spMk id="74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2:35.009" v="540" actId="1076"/>
          <ac:spMkLst>
            <pc:docMk/>
            <pc:sldMk cId="0" sldId="274"/>
            <ac:spMk id="76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1:53.727" v="459" actId="1076"/>
          <ac:spMkLst>
            <pc:docMk/>
            <pc:sldMk cId="0" sldId="274"/>
            <ac:spMk id="78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3:14.139" v="475" actId="1076"/>
          <ac:spMkLst>
            <pc:docMk/>
            <pc:sldMk cId="0" sldId="274"/>
            <ac:spMk id="79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3:32.069" v="476" actId="1076"/>
          <ac:spMkLst>
            <pc:docMk/>
            <pc:sldMk cId="0" sldId="274"/>
            <ac:spMk id="80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4:57.545" v="490" actId="1076"/>
          <ac:spMkLst>
            <pc:docMk/>
            <pc:sldMk cId="0" sldId="274"/>
            <ac:spMk id="82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45:40.416" v="498" actId="1076"/>
          <ac:spMkLst>
            <pc:docMk/>
            <pc:sldMk cId="0" sldId="274"/>
            <ac:spMk id="84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2:52:52.380" v="544" actId="14100"/>
          <ac:spMkLst>
            <pc:docMk/>
            <pc:sldMk cId="0" sldId="274"/>
            <ac:spMk id="86" creationId="{00000000-0000-0000-0000-000000000000}"/>
          </ac:spMkLst>
        </pc:spChg>
      </pc:sldChg>
      <pc:sldChg chg="modSp mod">
        <pc:chgData name="Hrithik Majumdar" userId="355d7d57ee7db7e5" providerId="LiveId" clId="{FD340E89-7635-5BCE-BDF5-ABAC23F712BF}" dt="2026-03-20T22:53:29.247" v="549" actId="1076"/>
        <pc:sldMkLst>
          <pc:docMk/>
          <pc:sldMk cId="0" sldId="275"/>
        </pc:sldMkLst>
        <pc:spChg chg="mod">
          <ac:chgData name="Hrithik Majumdar" userId="355d7d57ee7db7e5" providerId="LiveId" clId="{FD340E89-7635-5BCE-BDF5-ABAC23F712BF}" dt="2026-03-20T22:53:29.247" v="549" actId="1076"/>
          <ac:spMkLst>
            <pc:docMk/>
            <pc:sldMk cId="0" sldId="275"/>
            <ac:spMk id="6" creationId="{00000000-0000-0000-0000-000000000000}"/>
          </ac:spMkLst>
        </pc:spChg>
      </pc:sldChg>
      <pc:sldChg chg="modSp mod">
        <pc:chgData name="Hrithik Majumdar" userId="355d7d57ee7db7e5" providerId="LiveId" clId="{FD340E89-7635-5BCE-BDF5-ABAC23F712BF}" dt="2026-03-20T23:02:37.925" v="646" actId="14100"/>
        <pc:sldMkLst>
          <pc:docMk/>
          <pc:sldMk cId="0" sldId="276"/>
        </pc:sldMkLst>
        <pc:spChg chg="mod">
          <ac:chgData name="Hrithik Majumdar" userId="355d7d57ee7db7e5" providerId="LiveId" clId="{FD340E89-7635-5BCE-BDF5-ABAC23F712BF}" dt="2026-03-20T23:02:37.925" v="646" actId="14100"/>
          <ac:spMkLst>
            <pc:docMk/>
            <pc:sldMk cId="0" sldId="276"/>
            <ac:spMk id="58" creationId="{00000000-0000-0000-0000-000000000000}"/>
          </ac:spMkLst>
        </pc:spChg>
      </pc:sldChg>
      <pc:sldChg chg="modSp mod">
        <pc:chgData name="Hrithik Majumdar" userId="355d7d57ee7db7e5" providerId="LiveId" clId="{FD340E89-7635-5BCE-BDF5-ABAC23F712BF}" dt="2026-03-22T15:36:31.349" v="930" actId="20577"/>
        <pc:sldMkLst>
          <pc:docMk/>
          <pc:sldMk cId="0" sldId="280"/>
        </pc:sldMkLst>
        <pc:spChg chg="mod">
          <ac:chgData name="Hrithik Majumdar" userId="355d7d57ee7db7e5" providerId="LiveId" clId="{FD340E89-7635-5BCE-BDF5-ABAC23F712BF}" dt="2026-03-22T15:27:07.355" v="778" actId="20577"/>
          <ac:spMkLst>
            <pc:docMk/>
            <pc:sldMk cId="0" sldId="280"/>
            <ac:spMk id="4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0T23:02:59.939" v="658" actId="20577"/>
          <ac:spMkLst>
            <pc:docMk/>
            <pc:sldMk cId="0" sldId="280"/>
            <ac:spMk id="8" creationId="{00000000-0000-0000-0000-000000000000}"/>
          </ac:spMkLst>
        </pc:spChg>
        <pc:spChg chg="mod">
          <ac:chgData name="Hrithik Majumdar" userId="355d7d57ee7db7e5" providerId="LiveId" clId="{FD340E89-7635-5BCE-BDF5-ABAC23F712BF}" dt="2026-03-22T15:36:31.349" v="930" actId="20577"/>
          <ac:spMkLst>
            <pc:docMk/>
            <pc:sldMk cId="0" sldId="280"/>
            <ac:spMk id="2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WER (%)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CTC-Scratch</c:v>
                </c:pt>
                <c:pt idx="1">
                  <c:v>QuartzNet</c:v>
                </c:pt>
                <c:pt idx="2">
                  <c:v>wav2vec2-CL</c:v>
                </c:pt>
                <c:pt idx="3">
                  <c:v>XLS-R (FT)</c:v>
                </c:pt>
                <c:pt idx="4">
                  <c:v>XLS-R (2-stage)</c:v>
                </c:pt>
                <c:pt idx="5">
                  <c:v>NeMo Conf.</c:v>
                </c:pt>
                <c:pt idx="6">
                  <c:v>Whisper ZS</c:v>
                </c:pt>
                <c:pt idx="7">
                  <c:v>Whisper FFT</c:v>
                </c:pt>
                <c:pt idx="8">
                  <c:v>Whisper+LoRA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</c:v>
                </c:pt>
                <c:pt idx="1">
                  <c:v>36</c:v>
                </c:pt>
                <c:pt idx="2">
                  <c:v>14</c:v>
                </c:pt>
                <c:pt idx="3">
                  <c:v>14</c:v>
                </c:pt>
                <c:pt idx="4">
                  <c:v>19</c:v>
                </c:pt>
                <c:pt idx="5">
                  <c:v>10</c:v>
                </c:pt>
                <c:pt idx="6">
                  <c:v>10</c:v>
                </c:pt>
                <c:pt idx="7">
                  <c:v>9</c:v>
                </c:pt>
                <c:pt idx="8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B5-4A43-A441-ECD5FA3C14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CER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CTC-Scratch</c:v>
                </c:pt>
                <c:pt idx="1">
                  <c:v>QuartzNet</c:v>
                </c:pt>
                <c:pt idx="2">
                  <c:v>wav2vec2-CL</c:v>
                </c:pt>
                <c:pt idx="3">
                  <c:v>XLS-R (FT)</c:v>
                </c:pt>
                <c:pt idx="4">
                  <c:v>XLS-R (2-stage)</c:v>
                </c:pt>
                <c:pt idx="5">
                  <c:v>NeMo Conf.</c:v>
                </c:pt>
                <c:pt idx="6">
                  <c:v>Whisper ZS</c:v>
                </c:pt>
                <c:pt idx="7">
                  <c:v>Whisper FFT</c:v>
                </c:pt>
                <c:pt idx="8">
                  <c:v>Whisper+LoRA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20</c:v>
                </c:pt>
                <c:pt idx="1">
                  <c:v>11</c:v>
                </c:pt>
                <c:pt idx="2">
                  <c:v>5</c:v>
                </c:pt>
                <c:pt idx="3">
                  <c:v>7</c:v>
                </c:pt>
                <c:pt idx="4">
                  <c:v>6</c:v>
                </c:pt>
                <c:pt idx="5">
                  <c:v>3</c:v>
                </c:pt>
                <c:pt idx="6">
                  <c:v>4</c:v>
                </c:pt>
                <c:pt idx="7">
                  <c:v>3</c:v>
                </c:pt>
                <c:pt idx="8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B5-4A43-A441-ECD5FA3C14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WER (%)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Hindi</c:v>
                </c:pt>
                <c:pt idx="1">
                  <c:v>Marathi</c:v>
                </c:pt>
                <c:pt idx="2">
                  <c:v>Bengali</c:v>
                </c:pt>
                <c:pt idx="3">
                  <c:v>Urdu</c:v>
                </c:pt>
                <c:pt idx="4">
                  <c:v>English</c:v>
                </c:pt>
                <c:pt idx="5">
                  <c:v>French</c:v>
                </c:pt>
                <c:pt idx="6">
                  <c:v>German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36.700000000000003</c:v>
                </c:pt>
                <c:pt idx="1">
                  <c:v>81.209999999999994</c:v>
                </c:pt>
                <c:pt idx="2">
                  <c:v>81.209999999999994</c:v>
                </c:pt>
                <c:pt idx="3">
                  <c:v>27.86</c:v>
                </c:pt>
                <c:pt idx="4">
                  <c:v>14.83</c:v>
                </c:pt>
                <c:pt idx="5">
                  <c:v>11.49</c:v>
                </c:pt>
                <c:pt idx="6">
                  <c:v>9.01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84-FF4A-ACDB-D98BB5684C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 WER (%)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Hindi</c:v>
                </c:pt>
                <c:pt idx="1">
                  <c:v>Marathi</c:v>
                </c:pt>
                <c:pt idx="2">
                  <c:v>Bengali</c:v>
                </c:pt>
                <c:pt idx="3">
                  <c:v>Urdu</c:v>
                </c:pt>
                <c:pt idx="4">
                  <c:v>English</c:v>
                </c:pt>
                <c:pt idx="5">
                  <c:v>French</c:v>
                </c:pt>
                <c:pt idx="6">
                  <c:v>German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3.81</c:v>
                </c:pt>
                <c:pt idx="1">
                  <c:v>4.92</c:v>
                </c:pt>
                <c:pt idx="2">
                  <c:v>4.87</c:v>
                </c:pt>
                <c:pt idx="3">
                  <c:v>4.13</c:v>
                </c:pt>
                <c:pt idx="4">
                  <c:v>2.91</c:v>
                </c:pt>
                <c:pt idx="5">
                  <c:v>3.17</c:v>
                </c:pt>
                <c:pt idx="6">
                  <c:v>2.88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84-FF4A-ACDB-D98BB5684C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156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bu4064/ESSEX-ASR-Project/blob/main/ASR_PAPER_FINAL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bu4064/ESSEX-ASR-Project/blob/main/ASR_PAPER_FINAL.pdf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4542282"/>
            <a:ext cx="8732520" cy="5715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r>
              <a:rPr lang="en-US" sz="1400" b="1">
                <a:solidFill>
                  <a:schemeClr val="bg1"/>
                </a:solidFill>
              </a:rPr>
              <a:t>Presenter: Hrithik Majumdar Shibu, Aniket </a:t>
            </a:r>
            <a:r>
              <a:rPr lang="en-US" sz="1400" b="1" err="1">
                <a:solidFill>
                  <a:schemeClr val="bg1"/>
                </a:solidFill>
              </a:rPr>
              <a:t>Domadiya</a:t>
            </a:r>
            <a:r>
              <a:rPr lang="en-US" sz="1400" b="1">
                <a:solidFill>
                  <a:schemeClr val="bg1"/>
                </a:solidFill>
              </a:rPr>
              <a:t>, Soham </a:t>
            </a:r>
            <a:r>
              <a:rPr lang="en-US" sz="1400" b="1" err="1">
                <a:solidFill>
                  <a:schemeClr val="bg1"/>
                </a:solidFill>
              </a:rPr>
              <a:t>Dharne</a:t>
            </a:r>
            <a:r>
              <a:rPr lang="en-US" sz="1400" b="1">
                <a:solidFill>
                  <a:schemeClr val="bg1"/>
                </a:solidFill>
              </a:rPr>
              <a:t>, Uswa Mahmood, Latha Mahendra, Aditya Nair, Edward </a:t>
            </a:r>
            <a:r>
              <a:rPr lang="en-US" sz="1400" b="1" err="1">
                <a:solidFill>
                  <a:schemeClr val="bg1"/>
                </a:solidFill>
              </a:rPr>
              <a:t>Hoogewerf</a:t>
            </a:r>
            <a:r>
              <a:rPr lang="en-US" sz="1400" b="1">
                <a:solidFill>
                  <a:schemeClr val="bg1"/>
                </a:solidFill>
              </a:rPr>
              <a:t>, Tarak Hossain, Sayed Hossain Bhuiyan</a:t>
            </a:r>
          </a:p>
        </p:txBody>
      </p:sp>
      <p:sp>
        <p:nvSpPr>
          <p:cNvPr id="4" name="Shape 2"/>
          <p:cNvSpPr/>
          <p:nvPr/>
        </p:nvSpPr>
        <p:spPr>
          <a:xfrm>
            <a:off x="411480" y="0"/>
            <a:ext cx="8732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92240" y="164592"/>
            <a:ext cx="24231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92240" y="1645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Group Project: Team No - 7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66928" y="457200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Cross-Domain Automatic Speech Recognition</a:t>
            </a:r>
            <a:endParaRPr lang="en-US" sz="3000"/>
          </a:p>
        </p:txBody>
      </p:sp>
      <p:sp>
        <p:nvSpPr>
          <p:cNvPr id="8" name="Text 6"/>
          <p:cNvSpPr/>
          <p:nvPr/>
        </p:nvSpPr>
        <p:spPr>
          <a:xfrm>
            <a:off x="566928" y="11155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Low-Rank Adaptation (LoRA)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566928" y="1764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Deep Learning Techniques on Multilingual Datasets</a:t>
            </a:r>
            <a:endParaRPr lang="en-US" sz="1350"/>
          </a:p>
        </p:txBody>
      </p:sp>
      <p:sp>
        <p:nvSpPr>
          <p:cNvPr id="10" name="Shape 8"/>
          <p:cNvSpPr/>
          <p:nvPr/>
        </p:nvSpPr>
        <p:spPr>
          <a:xfrm>
            <a:off x="566928" y="2258568"/>
            <a:ext cx="60350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2356" y="2412817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CE903 — Group Project, MSc in Artificial Intelligence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562356" y="272774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Essex  •  Department of Computer Science and Electronic Engineering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571500" y="3335274"/>
            <a:ext cx="1938528" cy="32918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4068" y="3335274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XLS-R 300M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2628900" y="3336473"/>
            <a:ext cx="1938528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38046" y="3336473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Conformer-CTC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4736592" y="3321183"/>
            <a:ext cx="1938528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36592" y="3321183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Whisper-Small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6821424" y="3302183"/>
            <a:ext cx="1938528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30570" y="328041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QuartzNet 5×5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562356" y="384359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Training Regimes: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2670048" y="3825302"/>
            <a:ext cx="182880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70048" y="382740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 (FFT)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4773168" y="3825302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36592" y="380161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-PEFT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566928" y="464515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EEAD4"/>
                </a:solidFill>
                <a:latin typeface="Calibri" pitchFamily="34" charset="0"/>
                <a:cs typeface="Calibri" pitchFamily="34" charset="-120"/>
              </a:rPr>
              <a:t>A simple go-through for the entire presentation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91440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640080" y="109728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background &amp; paradigm shift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256032" y="1431036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" y="143103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640080" y="14310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640080" y="161391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research matters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256032" y="1947672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" y="194767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640080" y="19476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40080" y="2130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key contributions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256032" y="2464308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6032" y="246430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640080" y="24643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640080" y="26471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overview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256032" y="2980944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6032" y="298094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640080" y="29809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Works — Architectures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640080" y="316382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models &amp; foundation models</a:t>
            </a:r>
            <a:endParaRPr lang="en-US" sz="850"/>
          </a:p>
        </p:txBody>
      </p:sp>
      <p:sp>
        <p:nvSpPr>
          <p:cNvPr id="27" name="Shape 25"/>
          <p:cNvSpPr/>
          <p:nvPr/>
        </p:nvSpPr>
        <p:spPr>
          <a:xfrm>
            <a:off x="256032" y="3497580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6032" y="349758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640080" y="34975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Works — PEFT &amp; SSMs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640080" y="368046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LoRA, PEFT methods &amp; state-space models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256032" y="4014216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6032" y="401421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640080" y="40142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— Statistics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640080" y="419709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LibriSpeech vs Common Voice en-AU</a:t>
            </a:r>
            <a:endParaRPr lang="en-US" sz="850"/>
          </a:p>
        </p:txBody>
      </p:sp>
      <p:sp>
        <p:nvSpPr>
          <p:cNvPr id="35" name="Shape 33"/>
          <p:cNvSpPr/>
          <p:nvPr/>
        </p:nvSpPr>
        <p:spPr>
          <a:xfrm>
            <a:off x="256032" y="4530852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6032" y="453085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640080" y="45308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— EDA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640080" y="47137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imbalance &amp; domain shift analysis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3218688" y="914400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18688" y="91440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3602736" y="9144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Architectures</a:t>
            </a:r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3602736" y="109728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XLS-R, Conformer, Whisper, QuartzNet</a:t>
            </a:r>
            <a:endParaRPr lang="en-US" sz="850"/>
          </a:p>
        </p:txBody>
      </p:sp>
      <p:sp>
        <p:nvSpPr>
          <p:cNvPr id="43" name="Shape 41"/>
          <p:cNvSpPr/>
          <p:nvPr/>
        </p:nvSpPr>
        <p:spPr>
          <a:xfrm>
            <a:off x="3218688" y="1431036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218688" y="143103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/>
          </a:p>
        </p:txBody>
      </p:sp>
      <p:sp>
        <p:nvSpPr>
          <p:cNvPr id="45" name="Text 43"/>
          <p:cNvSpPr/>
          <p:nvPr/>
        </p:nvSpPr>
        <p:spPr>
          <a:xfrm>
            <a:off x="3602736" y="14310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Fine-Tuning</a:t>
            </a:r>
            <a:endParaRPr lang="en-US" sz="1100"/>
          </a:p>
        </p:txBody>
      </p:sp>
      <p:sp>
        <p:nvSpPr>
          <p:cNvPr id="46" name="Text 44"/>
          <p:cNvSpPr/>
          <p:nvPr/>
        </p:nvSpPr>
        <p:spPr>
          <a:xfrm>
            <a:off x="3602736" y="161391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 protocol (single &amp; cross-domain)</a:t>
            </a:r>
            <a:endParaRPr lang="en-US" sz="850"/>
          </a:p>
        </p:txBody>
      </p:sp>
      <p:sp>
        <p:nvSpPr>
          <p:cNvPr id="47" name="Shape 45"/>
          <p:cNvSpPr/>
          <p:nvPr/>
        </p:nvSpPr>
        <p:spPr>
          <a:xfrm>
            <a:off x="3218688" y="1947672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218688" y="194767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00"/>
          </a:p>
        </p:txBody>
      </p:sp>
      <p:sp>
        <p:nvSpPr>
          <p:cNvPr id="49" name="Text 47"/>
          <p:cNvSpPr/>
          <p:nvPr/>
        </p:nvSpPr>
        <p:spPr>
          <a:xfrm>
            <a:off x="3602736" y="19476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LoRA-PEFT</a:t>
            </a:r>
            <a:endParaRPr lang="en-US" sz="1100"/>
          </a:p>
        </p:txBody>
      </p:sp>
      <p:sp>
        <p:nvSpPr>
          <p:cNvPr id="50" name="Text 48"/>
          <p:cNvSpPr/>
          <p:nvPr/>
        </p:nvSpPr>
        <p:spPr>
          <a:xfrm>
            <a:off x="3602736" y="2130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adaptation setup &amp; enhancements</a:t>
            </a:r>
            <a:endParaRPr lang="en-US" sz="850"/>
          </a:p>
        </p:txBody>
      </p:sp>
      <p:sp>
        <p:nvSpPr>
          <p:cNvPr id="51" name="Shape 49"/>
          <p:cNvSpPr/>
          <p:nvPr/>
        </p:nvSpPr>
        <p:spPr>
          <a:xfrm>
            <a:off x="3218688" y="2464308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218688" y="246430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000"/>
          </a:p>
        </p:txBody>
      </p:sp>
      <p:sp>
        <p:nvSpPr>
          <p:cNvPr id="53" name="Text 51"/>
          <p:cNvSpPr/>
          <p:nvPr/>
        </p:nvSpPr>
        <p:spPr>
          <a:xfrm>
            <a:off x="3602736" y="24643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Omnilingual</a:t>
            </a:r>
            <a:endParaRPr lang="en-US" sz="1100"/>
          </a:p>
        </p:txBody>
      </p:sp>
      <p:sp>
        <p:nvSpPr>
          <p:cNvPr id="54" name="Text 52"/>
          <p:cNvSpPr/>
          <p:nvPr/>
        </p:nvSpPr>
        <p:spPr>
          <a:xfrm>
            <a:off x="3602736" y="26471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7-language single adapter extension</a:t>
            </a:r>
            <a:endParaRPr lang="en-US" sz="850"/>
          </a:p>
        </p:txBody>
      </p:sp>
      <p:sp>
        <p:nvSpPr>
          <p:cNvPr id="55" name="Shape 53"/>
          <p:cNvSpPr/>
          <p:nvPr/>
        </p:nvSpPr>
        <p:spPr>
          <a:xfrm>
            <a:off x="3218688" y="2980944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18688" y="298094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000"/>
          </a:p>
        </p:txBody>
      </p:sp>
      <p:sp>
        <p:nvSpPr>
          <p:cNvPr id="57" name="Text 55"/>
          <p:cNvSpPr/>
          <p:nvPr/>
        </p:nvSpPr>
        <p:spPr>
          <a:xfrm>
            <a:off x="3602736" y="29809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100"/>
          </a:p>
        </p:txBody>
      </p:sp>
      <p:sp>
        <p:nvSpPr>
          <p:cNvPr id="58" name="Text 56"/>
          <p:cNvSpPr/>
          <p:nvPr/>
        </p:nvSpPr>
        <p:spPr>
          <a:xfrm>
            <a:off x="3602736" y="316382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frameworks &amp; hyperparameters</a:t>
            </a:r>
            <a:endParaRPr lang="en-US" sz="850"/>
          </a:p>
        </p:txBody>
      </p:sp>
      <p:sp>
        <p:nvSpPr>
          <p:cNvPr id="59" name="Shape 57"/>
          <p:cNvSpPr/>
          <p:nvPr/>
        </p:nvSpPr>
        <p:spPr>
          <a:xfrm>
            <a:off x="3218688" y="3497580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218688" y="349758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000"/>
          </a:p>
        </p:txBody>
      </p:sp>
      <p:sp>
        <p:nvSpPr>
          <p:cNvPr id="61" name="Text 59"/>
          <p:cNvSpPr/>
          <p:nvPr/>
        </p:nvSpPr>
        <p:spPr>
          <a:xfrm>
            <a:off x="3602736" y="34975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Performance Table</a:t>
            </a:r>
            <a:endParaRPr lang="en-US" sz="1100"/>
          </a:p>
        </p:txBody>
      </p:sp>
      <p:sp>
        <p:nvSpPr>
          <p:cNvPr id="62" name="Text 60"/>
          <p:cNvSpPr/>
          <p:nvPr/>
        </p:nvSpPr>
        <p:spPr>
          <a:xfrm>
            <a:off x="3602736" y="368046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/ CER across all models</a:t>
            </a:r>
            <a:endParaRPr lang="en-US" sz="850"/>
          </a:p>
        </p:txBody>
      </p:sp>
      <p:sp>
        <p:nvSpPr>
          <p:cNvPr id="63" name="Shape 61"/>
          <p:cNvSpPr/>
          <p:nvPr/>
        </p:nvSpPr>
        <p:spPr>
          <a:xfrm>
            <a:off x="3218688" y="4014216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218688" y="401421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000"/>
          </a:p>
        </p:txBody>
      </p:sp>
      <p:sp>
        <p:nvSpPr>
          <p:cNvPr id="65" name="Text 63"/>
          <p:cNvSpPr/>
          <p:nvPr/>
        </p:nvSpPr>
        <p:spPr>
          <a:xfrm>
            <a:off x="3602736" y="40142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Visual Comparison</a:t>
            </a:r>
            <a:endParaRPr lang="en-US" sz="1100"/>
          </a:p>
        </p:txBody>
      </p:sp>
      <p:sp>
        <p:nvSpPr>
          <p:cNvPr id="66" name="Text 64"/>
          <p:cNvSpPr/>
          <p:nvPr/>
        </p:nvSpPr>
        <p:spPr>
          <a:xfrm>
            <a:off x="3602736" y="419709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bar chart comparison</a:t>
            </a:r>
            <a:endParaRPr lang="en-US" sz="850"/>
          </a:p>
        </p:txBody>
      </p:sp>
      <p:sp>
        <p:nvSpPr>
          <p:cNvPr id="67" name="Shape 65"/>
          <p:cNvSpPr/>
          <p:nvPr/>
        </p:nvSpPr>
        <p:spPr>
          <a:xfrm>
            <a:off x="3218688" y="4530852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218688" y="453085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000"/>
          </a:p>
        </p:txBody>
      </p:sp>
      <p:sp>
        <p:nvSpPr>
          <p:cNvPr id="69" name="Text 67"/>
          <p:cNvSpPr/>
          <p:nvPr/>
        </p:nvSpPr>
        <p:spPr>
          <a:xfrm>
            <a:off x="3602736" y="45308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Omnilingual Results</a:t>
            </a:r>
            <a:endParaRPr lang="en-US" sz="1100"/>
          </a:p>
        </p:txBody>
      </p:sp>
      <p:sp>
        <p:nvSpPr>
          <p:cNvPr id="70" name="Text 68"/>
          <p:cNvSpPr/>
          <p:nvPr/>
        </p:nvSpPr>
        <p:spPr>
          <a:xfrm>
            <a:off x="3602736" y="47137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FLEURS benchmark per-language metrics</a:t>
            </a:r>
            <a:endParaRPr lang="en-US" sz="850"/>
          </a:p>
        </p:txBody>
      </p:sp>
      <p:sp>
        <p:nvSpPr>
          <p:cNvPr id="71" name="Shape 69"/>
          <p:cNvSpPr/>
          <p:nvPr/>
        </p:nvSpPr>
        <p:spPr>
          <a:xfrm>
            <a:off x="6181344" y="914400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181344" y="91440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000"/>
          </a:p>
        </p:txBody>
      </p:sp>
      <p:sp>
        <p:nvSpPr>
          <p:cNvPr id="73" name="Text 71"/>
          <p:cNvSpPr/>
          <p:nvPr/>
        </p:nvSpPr>
        <p:spPr>
          <a:xfrm>
            <a:off x="6565392" y="9144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Ablation Study</a:t>
            </a:r>
            <a:endParaRPr lang="en-US" sz="1100"/>
          </a:p>
        </p:txBody>
      </p:sp>
      <p:sp>
        <p:nvSpPr>
          <p:cNvPr id="74" name="Text 72"/>
          <p:cNvSpPr/>
          <p:nvPr/>
        </p:nvSpPr>
        <p:spPr>
          <a:xfrm>
            <a:off x="6565392" y="109728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paradigm comparison</a:t>
            </a:r>
            <a:endParaRPr lang="en-US" sz="850"/>
          </a:p>
        </p:txBody>
      </p:sp>
      <p:sp>
        <p:nvSpPr>
          <p:cNvPr id="75" name="Shape 73"/>
          <p:cNvSpPr/>
          <p:nvPr/>
        </p:nvSpPr>
        <p:spPr>
          <a:xfrm>
            <a:off x="6181344" y="1431036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181344" y="143103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000"/>
          </a:p>
        </p:txBody>
      </p:sp>
      <p:sp>
        <p:nvSpPr>
          <p:cNvPr id="77" name="Text 75"/>
          <p:cNvSpPr/>
          <p:nvPr/>
        </p:nvSpPr>
        <p:spPr>
          <a:xfrm>
            <a:off x="6565392" y="14310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Cross-Domain</a:t>
            </a:r>
            <a:endParaRPr lang="en-US" sz="1100"/>
          </a:p>
        </p:txBody>
      </p:sp>
      <p:sp>
        <p:nvSpPr>
          <p:cNvPr id="78" name="Text 76"/>
          <p:cNvSpPr/>
          <p:nvPr/>
        </p:nvSpPr>
        <p:spPr>
          <a:xfrm>
            <a:off x="6565392" y="161391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Source-domain retention &amp; transfer analysis</a:t>
            </a:r>
            <a:endParaRPr lang="en-US" sz="850"/>
          </a:p>
        </p:txBody>
      </p:sp>
      <p:sp>
        <p:nvSpPr>
          <p:cNvPr id="79" name="Shape 77"/>
          <p:cNvSpPr/>
          <p:nvPr/>
        </p:nvSpPr>
        <p:spPr>
          <a:xfrm>
            <a:off x="6181344" y="1947672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181344" y="194767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000"/>
          </a:p>
        </p:txBody>
      </p:sp>
      <p:sp>
        <p:nvSpPr>
          <p:cNvPr id="81" name="Text 79"/>
          <p:cNvSpPr/>
          <p:nvPr/>
        </p:nvSpPr>
        <p:spPr>
          <a:xfrm>
            <a:off x="6565392" y="19476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Error Analysis</a:t>
            </a:r>
            <a:endParaRPr lang="en-US" sz="1100"/>
          </a:p>
        </p:txBody>
      </p:sp>
      <p:sp>
        <p:nvSpPr>
          <p:cNvPr id="82" name="Text 80"/>
          <p:cNvSpPr/>
          <p:nvPr/>
        </p:nvSpPr>
        <p:spPr>
          <a:xfrm>
            <a:off x="6565392" y="2130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pattern distribution &amp; categorisation</a:t>
            </a:r>
            <a:endParaRPr lang="en-US" sz="850"/>
          </a:p>
        </p:txBody>
      </p:sp>
      <p:sp>
        <p:nvSpPr>
          <p:cNvPr id="83" name="Shape 81"/>
          <p:cNvSpPr/>
          <p:nvPr/>
        </p:nvSpPr>
        <p:spPr>
          <a:xfrm>
            <a:off x="6181344" y="2464308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181344" y="246430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000"/>
          </a:p>
        </p:txBody>
      </p:sp>
      <p:sp>
        <p:nvSpPr>
          <p:cNvPr id="85" name="Text 83"/>
          <p:cNvSpPr/>
          <p:nvPr/>
        </p:nvSpPr>
        <p:spPr>
          <a:xfrm>
            <a:off x="6565392" y="24643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Software Solution</a:t>
            </a:r>
            <a:endParaRPr lang="en-US" sz="1100"/>
          </a:p>
        </p:txBody>
      </p:sp>
      <p:sp>
        <p:nvSpPr>
          <p:cNvPr id="86" name="Text 84"/>
          <p:cNvSpPr/>
          <p:nvPr/>
        </p:nvSpPr>
        <p:spPr>
          <a:xfrm>
            <a:off x="6565392" y="26471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real-time inference application</a:t>
            </a:r>
            <a:endParaRPr lang="en-US" sz="850"/>
          </a:p>
        </p:txBody>
      </p:sp>
      <p:sp>
        <p:nvSpPr>
          <p:cNvPr id="87" name="Shape 85"/>
          <p:cNvSpPr/>
          <p:nvPr/>
        </p:nvSpPr>
        <p:spPr>
          <a:xfrm>
            <a:off x="6181344" y="2980944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181344" y="298094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1000"/>
          </a:p>
        </p:txBody>
      </p:sp>
      <p:sp>
        <p:nvSpPr>
          <p:cNvPr id="89" name="Text 87"/>
          <p:cNvSpPr/>
          <p:nvPr/>
        </p:nvSpPr>
        <p:spPr>
          <a:xfrm>
            <a:off x="6565392" y="29809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/>
          </a:p>
        </p:txBody>
      </p:sp>
      <p:sp>
        <p:nvSpPr>
          <p:cNvPr id="90" name="Text 88"/>
          <p:cNvSpPr/>
          <p:nvPr/>
        </p:nvSpPr>
        <p:spPr>
          <a:xfrm>
            <a:off x="6565392" y="316382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key findings</a:t>
            </a:r>
            <a:endParaRPr lang="en-US" sz="850"/>
          </a:p>
        </p:txBody>
      </p:sp>
      <p:sp>
        <p:nvSpPr>
          <p:cNvPr id="91" name="Shape 89"/>
          <p:cNvSpPr/>
          <p:nvPr/>
        </p:nvSpPr>
        <p:spPr>
          <a:xfrm>
            <a:off x="6181344" y="3497580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6181344" y="349758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</a:t>
            </a:r>
            <a:endParaRPr lang="en-US" sz="1000"/>
          </a:p>
        </p:txBody>
      </p:sp>
      <p:sp>
        <p:nvSpPr>
          <p:cNvPr id="93" name="Text 91"/>
          <p:cNvSpPr/>
          <p:nvPr/>
        </p:nvSpPr>
        <p:spPr>
          <a:xfrm>
            <a:off x="6565392" y="34975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/>
          </a:p>
        </p:txBody>
      </p:sp>
      <p:sp>
        <p:nvSpPr>
          <p:cNvPr id="94" name="Text 92"/>
          <p:cNvSpPr/>
          <p:nvPr/>
        </p:nvSpPr>
        <p:spPr>
          <a:xfrm>
            <a:off x="6565392" y="368046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study constraints</a:t>
            </a:r>
            <a:endParaRPr lang="en-US" sz="850"/>
          </a:p>
        </p:txBody>
      </p:sp>
      <p:sp>
        <p:nvSpPr>
          <p:cNvPr id="95" name="Shape 93"/>
          <p:cNvSpPr/>
          <p:nvPr/>
        </p:nvSpPr>
        <p:spPr>
          <a:xfrm>
            <a:off x="6181344" y="4014216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6181344" y="401421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1000"/>
          </a:p>
        </p:txBody>
      </p:sp>
      <p:sp>
        <p:nvSpPr>
          <p:cNvPr id="97" name="Text 95"/>
          <p:cNvSpPr/>
          <p:nvPr/>
        </p:nvSpPr>
        <p:spPr>
          <a:xfrm>
            <a:off x="6565392" y="40142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/>
          </a:p>
        </p:txBody>
      </p:sp>
      <p:sp>
        <p:nvSpPr>
          <p:cNvPr id="98" name="Text 96"/>
          <p:cNvSpPr/>
          <p:nvPr/>
        </p:nvSpPr>
        <p:spPr>
          <a:xfrm>
            <a:off x="6565392" y="419709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research directions</a:t>
            </a:r>
            <a:endParaRPr lang="en-US" sz="850"/>
          </a:p>
        </p:txBody>
      </p:sp>
      <p:sp>
        <p:nvSpPr>
          <p:cNvPr id="99" name="Shape 97"/>
          <p:cNvSpPr/>
          <p:nvPr/>
        </p:nvSpPr>
        <p:spPr>
          <a:xfrm>
            <a:off x="6181344" y="4530852"/>
            <a:ext cx="329184" cy="310896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6181344" y="453085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</a:t>
            </a:r>
            <a:endParaRPr lang="en-US" sz="1000"/>
          </a:p>
        </p:txBody>
      </p:sp>
      <p:sp>
        <p:nvSpPr>
          <p:cNvPr id="101" name="Text 99"/>
          <p:cNvSpPr/>
          <p:nvPr/>
        </p:nvSpPr>
        <p:spPr>
          <a:xfrm>
            <a:off x="6565392" y="45308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Queries?</a:t>
            </a:r>
            <a:endParaRPr lang="en-US" sz="1100"/>
          </a:p>
        </p:txBody>
      </p:sp>
      <p:sp>
        <p:nvSpPr>
          <p:cNvPr id="102" name="Text 100"/>
          <p:cNvSpPr/>
          <p:nvPr/>
        </p:nvSpPr>
        <p:spPr>
          <a:xfrm>
            <a:off x="6565392" y="47137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discussion</a:t>
            </a:r>
            <a:endParaRPr lang="en-US" sz="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ASR paradigm shift and remaining challenges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8631936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914400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Evolution of ASR Systems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256032" y="1170432"/>
            <a:ext cx="2066544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117043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1980s–2000s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256032" y="1426464"/>
            <a:ext cx="2066544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146304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GMM-HMM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320040" y="169164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 Model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Hidden Markov Model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pipelines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2414016" y="1156716"/>
            <a:ext cx="2066544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68880" y="117043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2012–2018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2412218" y="1412748"/>
            <a:ext cx="2066544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32888" y="146304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DNN-HMM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2532888" y="169164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GMMs;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introduced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590288" y="1170432"/>
            <a:ext cx="206654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81728" y="117043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2019–2021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4570202" y="1426464"/>
            <a:ext cx="2066544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45736" y="146304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4745736" y="169164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RNN-T, Conformer,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Transformer-CTC;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HMM alignment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6830568" y="1170432"/>
            <a:ext cx="206654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94576" y="117043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2022–Now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6830568" y="1435608"/>
            <a:ext cx="2066544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58584" y="146304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6958584" y="169164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 2.0, Whisper,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XLS-R; self-supervised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pretraining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256032" y="2514600"/>
            <a:ext cx="281635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6032" y="2514600"/>
            <a:ext cx="2816352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472" y="25786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Cross-Domain ASR?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347472" y="2852928"/>
            <a:ext cx="263347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8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ASR involves transferring a model trained on clean, standard-accent speech (e.g. LibriSpeech read audio) to spontaneous, accented, or noisy speech. The distributional mismatch — in vocabulary, speaking rate, recording conditions, and phonetic patterns — causes significant WER degradation without explicit domain adaptation.</a:t>
            </a:r>
            <a:endParaRPr lang="en-US" sz="980"/>
          </a:p>
        </p:txBody>
      </p:sp>
      <p:sp>
        <p:nvSpPr>
          <p:cNvPr id="33" name="Shape 31"/>
          <p:cNvSpPr/>
          <p:nvPr/>
        </p:nvSpPr>
        <p:spPr>
          <a:xfrm>
            <a:off x="3200400" y="2514600"/>
            <a:ext cx="281635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00400" y="2514600"/>
            <a:ext cx="2816352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91840" y="25786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Australian English?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3291840" y="2852928"/>
            <a:ext cx="263347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8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English (en-AU) exhibits vowel raising (TRAP vowel), consonant elision, high speaking-rate variability, and unique lexical choices. General American English dominates training corpora; en-AU speakers experience 15–40% higher WER in standard commercial ASR systems — making it an ideal stress-test for cross-domain adaptation techniques.</a:t>
            </a:r>
            <a:endParaRPr lang="en-US" sz="980"/>
          </a:p>
        </p:txBody>
      </p:sp>
      <p:sp>
        <p:nvSpPr>
          <p:cNvPr id="37" name="Shape 35"/>
          <p:cNvSpPr/>
          <p:nvPr/>
        </p:nvSpPr>
        <p:spPr>
          <a:xfrm>
            <a:off x="6144768" y="2514600"/>
            <a:ext cx="281635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44768" y="2514600"/>
            <a:ext cx="281635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36208" y="25786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LoRA for Adaptation?</a:t>
            </a:r>
            <a:endParaRPr lang="en-US" sz="1100"/>
          </a:p>
        </p:txBody>
      </p:sp>
      <p:sp>
        <p:nvSpPr>
          <p:cNvPr id="40" name="Text 38"/>
          <p:cNvSpPr/>
          <p:nvPr/>
        </p:nvSpPr>
        <p:spPr>
          <a:xfrm>
            <a:off x="6236208" y="2852928"/>
            <a:ext cx="263347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8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 of large models (Whisper-Small: 244M parameters) requires 16–24 GB GPU RAM and hours of training per experiment. Low-Rank Adaptation (LoRA) injects trainable low-rank matrices (rank r=8) into frozen attention layers, reducing trainable parameters by 98.1% while retaining competitive accuracy — enabling single-GPU research on P100-class hardware.</a:t>
            </a:r>
            <a:endParaRPr lang="en-US" sz="98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research and why now?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2816352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932688"/>
            <a:ext cx="2816352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02412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🌏  Accent Diversity Gap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347472" y="1298448"/>
            <a:ext cx="26334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8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corpora are dominated by General American English. Nonstandard varieties — especially Australian English — remain systematically underserved, causing 15–40% higher WER in production deployments across broadcasting, healthcare, and legal transcription.</a:t>
            </a:r>
            <a:endParaRPr lang="en-US" sz="980"/>
          </a:p>
        </p:txBody>
      </p:sp>
      <p:sp>
        <p:nvSpPr>
          <p:cNvPr id="11" name="Shape 9"/>
          <p:cNvSpPr/>
          <p:nvPr/>
        </p:nvSpPr>
        <p:spPr>
          <a:xfrm>
            <a:off x="3200400" y="932688"/>
            <a:ext cx="2816352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932688"/>
            <a:ext cx="281635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02412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 Resource-Constrained Adaptation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3291840" y="1298448"/>
            <a:ext cx="26334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8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 of 244M-parameter models demands GPU memory beyond consumer hardware. Practical deployment pipelines for academic labs and startups require parameter-efficient methods that retain competitive accuracy at a fraction of the compute cost.</a:t>
            </a:r>
            <a:endParaRPr lang="en-US" sz="980"/>
          </a:p>
        </p:txBody>
      </p:sp>
      <p:sp>
        <p:nvSpPr>
          <p:cNvPr id="15" name="Shape 13"/>
          <p:cNvSpPr/>
          <p:nvPr/>
        </p:nvSpPr>
        <p:spPr>
          <a:xfrm>
            <a:off x="6144768" y="932688"/>
            <a:ext cx="2816352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44768" y="932688"/>
            <a:ext cx="2816352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36208" y="102412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Multilingual Scalability Challenge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6236208" y="1298448"/>
            <a:ext cx="26334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8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systems increasingly target morphologically rich, low-resource languages (Indic scripts, Urdu). Building one adapter per language is commercially infeasible. A single omnilingual adapter achieving sub-5% CER across 7 languages — including Bengali and Marathi — represents a key scientific contribution.</a:t>
            </a:r>
            <a:endParaRPr lang="en-US" sz="980"/>
          </a:p>
        </p:txBody>
      </p:sp>
      <p:sp>
        <p:nvSpPr>
          <p:cNvPr id="19" name="Shape 17"/>
          <p:cNvSpPr/>
          <p:nvPr/>
        </p:nvSpPr>
        <p:spPr>
          <a:xfrm>
            <a:off x="256032" y="2999232"/>
            <a:ext cx="2816352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2999232"/>
            <a:ext cx="2816352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309067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Underquantified Domain Shift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347472" y="3364992"/>
            <a:ext cx="26334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8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OOV rates, speaker Gini coefficients, and speaking-rate mismatch are rarely reported in ASR ablation studies. This work rigorously quantifies the 18.97% token-level OOV gap and Gini=0.81 speaker imbalance, creating a reproducible methodology for future cross-domain benchmarking.</a:t>
            </a:r>
            <a:endParaRPr lang="en-US" sz="980"/>
          </a:p>
        </p:txBody>
      </p:sp>
      <p:sp>
        <p:nvSpPr>
          <p:cNvPr id="23" name="Shape 21"/>
          <p:cNvSpPr/>
          <p:nvPr/>
        </p:nvSpPr>
        <p:spPr>
          <a:xfrm>
            <a:off x="3200400" y="2999232"/>
            <a:ext cx="2816352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0" y="2999232"/>
            <a:ext cx="2816352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91840" y="309067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Production Deployment Readiness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3291840" y="3364992"/>
            <a:ext cx="26334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8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ASR requires streaming inference, low latency, and edge-deployable models. This study benchmarks practical trade-offs between model size, accuracy, and computational footprint on P100-class hardware — directly informing industry deployment decisions.</a:t>
            </a:r>
            <a:endParaRPr lang="en-US" sz="980"/>
          </a:p>
        </p:txBody>
      </p:sp>
      <p:sp>
        <p:nvSpPr>
          <p:cNvPr id="27" name="Shape 25"/>
          <p:cNvSpPr/>
          <p:nvPr/>
        </p:nvSpPr>
        <p:spPr>
          <a:xfrm>
            <a:off x="6144768" y="2999232"/>
            <a:ext cx="2816352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44768" y="2999232"/>
            <a:ext cx="2816352" cy="502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36208" y="309067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 Reproducibility &amp; Open Science</a:t>
            </a:r>
            <a:endParaRPr lang="en-US" sz="1150"/>
          </a:p>
        </p:txBody>
      </p:sp>
      <p:sp>
        <p:nvSpPr>
          <p:cNvPr id="30" name="Text 28"/>
          <p:cNvSpPr/>
          <p:nvPr/>
        </p:nvSpPr>
        <p:spPr>
          <a:xfrm>
            <a:off x="6236208" y="3364992"/>
            <a:ext cx="26334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8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experiments use publicly available corpora (LibriSpeech CC BY 4.0, Common Voice CC0) mirrored on Kaggle, open-source frameworks (HuggingFace, PEFT, NeMo), and documented hyperparameter grids — enabling full reproducibility by the research community.</a:t>
            </a:r>
            <a:endParaRPr lang="en-US" sz="98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 &amp; Key Contributions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concrete research contributions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457200" cy="67665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91440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/>
          </a:p>
        </p:txBody>
      </p:sp>
      <p:sp>
        <p:nvSpPr>
          <p:cNvPr id="9" name="Shape 7"/>
          <p:cNvSpPr/>
          <p:nvPr/>
        </p:nvSpPr>
        <p:spPr>
          <a:xfrm>
            <a:off x="768096" y="914400"/>
            <a:ext cx="81198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8096" y="914400"/>
            <a:ext cx="8119872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7824" y="978408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Systematic Architectural Comparison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877824" y="1225296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XLS-R (300M), Conformer-CTC, Whisper-Small (244M), and QuartzNet 5×5 under both full fine-tuning (FFT) and LoRA-PEFT across cross-domain Australian English ASR — the first multi-architecture study on Common Voice v24 en-AU.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56032" y="1737360"/>
            <a:ext cx="457200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032" y="173736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/>
          </a:p>
        </p:txBody>
      </p:sp>
      <p:sp>
        <p:nvSpPr>
          <p:cNvPr id="15" name="Shape 13"/>
          <p:cNvSpPr/>
          <p:nvPr/>
        </p:nvSpPr>
        <p:spPr>
          <a:xfrm>
            <a:off x="768096" y="1737360"/>
            <a:ext cx="81198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8096" y="1737360"/>
            <a:ext cx="811987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77824" y="1801368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Rigorous Exploratory Data Analysis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877824" y="2048256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domain shift between LibriSpeech and Common Voice en-AU via word/subword OOV rates, speaker imbalance (Gini coefficients), audio quality diagnostics, and vocabulary statistics — producing reproducible domain shift metrics.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560320"/>
            <a:ext cx="457200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6032" y="256032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/>
          </a:p>
        </p:txBody>
      </p:sp>
      <p:sp>
        <p:nvSpPr>
          <p:cNvPr id="21" name="Shape 19"/>
          <p:cNvSpPr/>
          <p:nvPr/>
        </p:nvSpPr>
        <p:spPr>
          <a:xfrm>
            <a:off x="768096" y="2560320"/>
            <a:ext cx="81198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8096" y="2560320"/>
            <a:ext cx="8119872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77824" y="2624328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Two-Stage Cross-Domain Protocol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877824" y="2871216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pipeline combining confidence-based transcript denoising, SpecAugment augmentation, and decode-time grid search that yields 1–2% absolute WER improvement at zero additional training cost over baseline cross-domain transfer.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256032" y="3383280"/>
            <a:ext cx="457200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6032" y="338328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/>
          </a:p>
        </p:txBody>
      </p:sp>
      <p:sp>
        <p:nvSpPr>
          <p:cNvPr id="27" name="Shape 25"/>
          <p:cNvSpPr/>
          <p:nvPr/>
        </p:nvSpPr>
        <p:spPr>
          <a:xfrm>
            <a:off x="768096" y="3383280"/>
            <a:ext cx="81198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68096" y="3383280"/>
            <a:ext cx="8119872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77824" y="3447288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Omnilingual PEFT Extension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877824" y="3694176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sub-5% CER across seven typologically diverse languages — Hindi, Marathi, Bengali, Urdu, English, French, German — using a single LoRA adapter (r=64) on the FLEURS benchmark, including Devanagari and Bengali Indic scripts.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256032" y="4206240"/>
            <a:ext cx="457200" cy="6766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6032" y="42062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/>
          </a:p>
        </p:txBody>
      </p:sp>
      <p:sp>
        <p:nvSpPr>
          <p:cNvPr id="33" name="Shape 31"/>
          <p:cNvSpPr/>
          <p:nvPr/>
        </p:nvSpPr>
        <p:spPr>
          <a:xfrm>
            <a:off x="768096" y="4206240"/>
            <a:ext cx="81198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68096" y="4206240"/>
            <a:ext cx="8119872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77824" y="4270248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Ablation &amp; Statistical Validation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877824" y="4517136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ablation studies across training paradigms, cross-domain transfer analysis, error categorisation on 400 samples, and paired t-tests with 100 bootstrap samples (p&lt;0.05) — providing statistically validated evidence for each design choice.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Approach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two-stage LoRA-augmented ASR pipeline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1591056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93268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Data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256032" y="1316736"/>
            <a:ext cx="159105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" y="1463040"/>
            <a:ext cx="182880" cy="18288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" y="142646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LibriSpeech train-clean-360</a:t>
            </a:r>
            <a:endParaRPr lang="en-US" sz="980"/>
          </a:p>
        </p:txBody>
      </p:sp>
      <p:sp>
        <p:nvSpPr>
          <p:cNvPr id="12" name="Shape 10"/>
          <p:cNvSpPr/>
          <p:nvPr/>
        </p:nvSpPr>
        <p:spPr>
          <a:xfrm>
            <a:off x="347472" y="2194560"/>
            <a:ext cx="182880" cy="18288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" y="215798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Voice v24 en-AU</a:t>
            </a:r>
            <a:endParaRPr lang="en-US" sz="980"/>
          </a:p>
        </p:txBody>
      </p:sp>
      <p:sp>
        <p:nvSpPr>
          <p:cNvPr id="14" name="Shape 12"/>
          <p:cNvSpPr/>
          <p:nvPr/>
        </p:nvSpPr>
        <p:spPr>
          <a:xfrm>
            <a:off x="347472" y="2926080"/>
            <a:ext cx="182880" cy="18288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" y="288950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filter: 0.2–15 s</a:t>
            </a:r>
            <a:endParaRPr lang="en-US" sz="980"/>
          </a:p>
        </p:txBody>
      </p:sp>
      <p:sp>
        <p:nvSpPr>
          <p:cNvPr id="16" name="Shape 14"/>
          <p:cNvSpPr/>
          <p:nvPr/>
        </p:nvSpPr>
        <p:spPr>
          <a:xfrm>
            <a:off x="347472" y="3657600"/>
            <a:ext cx="182880" cy="18288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5216" y="362102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balance ≤50/speaker</a:t>
            </a:r>
            <a:endParaRPr lang="en-US" sz="980"/>
          </a:p>
        </p:txBody>
      </p:sp>
      <p:sp>
        <p:nvSpPr>
          <p:cNvPr id="18" name="Shape 16"/>
          <p:cNvSpPr/>
          <p:nvPr/>
        </p:nvSpPr>
        <p:spPr>
          <a:xfrm>
            <a:off x="1847088" y="2624328"/>
            <a:ext cx="10972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956816" y="932688"/>
            <a:ext cx="1591056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956816" y="93268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Stage A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Pre-Train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1956816" y="1316736"/>
            <a:ext cx="159105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048256" y="1463040"/>
            <a:ext cx="182880" cy="1828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86000" y="142646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FFT on LibriSpeech</a:t>
            </a:r>
            <a:endParaRPr lang="en-US" sz="980"/>
          </a:p>
        </p:txBody>
      </p:sp>
      <p:sp>
        <p:nvSpPr>
          <p:cNvPr id="24" name="Shape 22"/>
          <p:cNvSpPr/>
          <p:nvPr/>
        </p:nvSpPr>
        <p:spPr>
          <a:xfrm>
            <a:off x="2048256" y="2194560"/>
            <a:ext cx="182880" cy="1828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0" y="215798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η=1×10⁻⁵, AdamW</a:t>
            </a:r>
            <a:endParaRPr lang="en-US" sz="980"/>
          </a:p>
        </p:txBody>
      </p:sp>
      <p:sp>
        <p:nvSpPr>
          <p:cNvPr id="26" name="Shape 24"/>
          <p:cNvSpPr/>
          <p:nvPr/>
        </p:nvSpPr>
        <p:spPr>
          <a:xfrm>
            <a:off x="2048256" y="2926080"/>
            <a:ext cx="182880" cy="1828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286000" y="288950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epochs, cosine LR</a:t>
            </a:r>
            <a:endParaRPr lang="en-US" sz="980"/>
          </a:p>
        </p:txBody>
      </p:sp>
      <p:sp>
        <p:nvSpPr>
          <p:cNvPr id="28" name="Shape 26"/>
          <p:cNvSpPr/>
          <p:nvPr/>
        </p:nvSpPr>
        <p:spPr>
          <a:xfrm>
            <a:off x="2048256" y="3657600"/>
            <a:ext cx="182880" cy="1828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86000" y="362102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mixed precision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3547872" y="2624328"/>
            <a:ext cx="10972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57600" y="932688"/>
            <a:ext cx="1591056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0" y="93268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Stage B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3657600" y="1316736"/>
            <a:ext cx="159105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749040" y="146304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986784" y="142646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 CV-AU samples</a:t>
            </a:r>
            <a:endParaRPr lang="en-US" sz="980"/>
          </a:p>
        </p:txBody>
      </p:sp>
      <p:sp>
        <p:nvSpPr>
          <p:cNvPr id="36" name="Shape 34"/>
          <p:cNvSpPr/>
          <p:nvPr/>
        </p:nvSpPr>
        <p:spPr>
          <a:xfrm>
            <a:off x="3749040" y="219456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986784" y="215798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denoising (top 10% removed)</a:t>
            </a:r>
            <a:endParaRPr lang="en-US" sz="980"/>
          </a:p>
        </p:txBody>
      </p:sp>
      <p:sp>
        <p:nvSpPr>
          <p:cNvPr id="38" name="Shape 36"/>
          <p:cNvSpPr/>
          <p:nvPr/>
        </p:nvSpPr>
        <p:spPr>
          <a:xfrm>
            <a:off x="3749040" y="292608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986784" y="288950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SpecAugment p=0.5</a:t>
            </a:r>
            <a:endParaRPr lang="en-US" sz="980"/>
          </a:p>
        </p:txBody>
      </p:sp>
      <p:sp>
        <p:nvSpPr>
          <p:cNvPr id="40" name="Shape 38"/>
          <p:cNvSpPr/>
          <p:nvPr/>
        </p:nvSpPr>
        <p:spPr>
          <a:xfrm>
            <a:off x="3749040" y="36576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986784" y="362102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η=5×10⁻⁶, 3 epochs</a:t>
            </a:r>
            <a:endParaRPr lang="en-US" sz="980"/>
          </a:p>
        </p:txBody>
      </p:sp>
      <p:sp>
        <p:nvSpPr>
          <p:cNvPr id="42" name="Shape 40"/>
          <p:cNvSpPr/>
          <p:nvPr/>
        </p:nvSpPr>
        <p:spPr>
          <a:xfrm>
            <a:off x="5248656" y="2624328"/>
            <a:ext cx="10972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358384" y="932688"/>
            <a:ext cx="1591056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358384" y="93268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 LoRA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Injection</a:t>
            </a:r>
            <a:endParaRPr lang="en-US" sz="1100"/>
          </a:p>
        </p:txBody>
      </p:sp>
      <p:sp>
        <p:nvSpPr>
          <p:cNvPr id="45" name="Shape 43"/>
          <p:cNvSpPr/>
          <p:nvPr/>
        </p:nvSpPr>
        <p:spPr>
          <a:xfrm>
            <a:off x="5358384" y="1316736"/>
            <a:ext cx="159105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449824" y="14630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687568" y="142646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r=8, α=16</a:t>
            </a:r>
            <a:endParaRPr lang="en-US" sz="980"/>
          </a:p>
        </p:txBody>
      </p:sp>
      <p:sp>
        <p:nvSpPr>
          <p:cNvPr id="48" name="Shape 46"/>
          <p:cNvSpPr/>
          <p:nvPr/>
        </p:nvSpPr>
        <p:spPr>
          <a:xfrm>
            <a:off x="5449824" y="219456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687568" y="215798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q/k/v/out_proj adapters</a:t>
            </a:r>
            <a:endParaRPr lang="en-US" sz="980"/>
          </a:p>
        </p:txBody>
      </p:sp>
      <p:sp>
        <p:nvSpPr>
          <p:cNvPr id="50" name="Shape 48"/>
          <p:cNvSpPr/>
          <p:nvPr/>
        </p:nvSpPr>
        <p:spPr>
          <a:xfrm>
            <a:off x="5449824" y="292608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687568" y="288950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4.7M trainable params</a:t>
            </a:r>
            <a:endParaRPr lang="en-US" sz="980"/>
          </a:p>
        </p:txBody>
      </p:sp>
      <p:sp>
        <p:nvSpPr>
          <p:cNvPr id="52" name="Shape 50"/>
          <p:cNvSpPr/>
          <p:nvPr/>
        </p:nvSpPr>
        <p:spPr>
          <a:xfrm>
            <a:off x="5449824" y="365760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687568" y="362102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AdamW (BitsAndBytes)</a:t>
            </a:r>
            <a:endParaRPr lang="en-US" sz="980"/>
          </a:p>
        </p:txBody>
      </p:sp>
      <p:sp>
        <p:nvSpPr>
          <p:cNvPr id="54" name="Shape 52"/>
          <p:cNvSpPr/>
          <p:nvPr/>
        </p:nvSpPr>
        <p:spPr>
          <a:xfrm>
            <a:off x="6949440" y="2624328"/>
            <a:ext cx="10972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059168" y="932688"/>
            <a:ext cx="1591056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059168" y="93268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⑤ Decode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Evaluate</a:t>
            </a:r>
            <a:endParaRPr lang="en-US" sz="1100"/>
          </a:p>
        </p:txBody>
      </p:sp>
      <p:sp>
        <p:nvSpPr>
          <p:cNvPr id="57" name="Shape 55"/>
          <p:cNvSpPr/>
          <p:nvPr/>
        </p:nvSpPr>
        <p:spPr>
          <a:xfrm>
            <a:off x="7059168" y="1316736"/>
            <a:ext cx="159105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150608" y="146304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388352" y="142646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 {3,5,10}</a:t>
            </a:r>
            <a:endParaRPr lang="en-US" sz="980"/>
          </a:p>
        </p:txBody>
      </p:sp>
      <p:sp>
        <p:nvSpPr>
          <p:cNvPr id="60" name="Shape 58"/>
          <p:cNvSpPr/>
          <p:nvPr/>
        </p:nvSpPr>
        <p:spPr>
          <a:xfrm>
            <a:off x="7150608" y="219456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388352" y="215798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penalty grid</a:t>
            </a:r>
            <a:endParaRPr lang="en-US" sz="980"/>
          </a:p>
        </p:txBody>
      </p:sp>
      <p:sp>
        <p:nvSpPr>
          <p:cNvPr id="62" name="Shape 60"/>
          <p:cNvSpPr/>
          <p:nvPr/>
        </p:nvSpPr>
        <p:spPr>
          <a:xfrm>
            <a:off x="7150608" y="292608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388352" y="288950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JiWER WER/CER</a:t>
            </a:r>
            <a:endParaRPr lang="en-US" sz="980"/>
          </a:p>
        </p:txBody>
      </p:sp>
      <p:sp>
        <p:nvSpPr>
          <p:cNvPr id="64" name="Shape 62"/>
          <p:cNvSpPr/>
          <p:nvPr/>
        </p:nvSpPr>
        <p:spPr>
          <a:xfrm>
            <a:off x="7150608" y="365760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388352" y="362102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t-test (p&lt;0.05)</a:t>
            </a:r>
            <a:endParaRPr lang="en-US" sz="980"/>
          </a:p>
        </p:txBody>
      </p:sp>
      <p:sp>
        <p:nvSpPr>
          <p:cNvPr id="66" name="Text 64"/>
          <p:cNvSpPr/>
          <p:nvPr/>
        </p:nvSpPr>
        <p:spPr>
          <a:xfrm>
            <a:off x="256032" y="440740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W₀ + (α/r)·BA   |   LoRA adapters merged via merge_and_unload() for native inference speed   |   P100 GPU (16 GB VRAM)</a:t>
            </a:r>
            <a:endParaRPr lang="en-US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Related Works — ASR Architectures &amp; Foundation Models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literature positioning this study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427939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932688"/>
            <a:ext cx="4279392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996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[1] Sharrab et al. 2025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404872" y="1014984"/>
            <a:ext cx="749808" cy="1828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04872" y="101498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</a:t>
            </a:r>
            <a:endParaRPr lang="en-US" sz="750"/>
          </a:p>
        </p:txBody>
      </p:sp>
      <p:sp>
        <p:nvSpPr>
          <p:cNvPr id="12" name="Text 10"/>
          <p:cNvSpPr/>
          <p:nvPr/>
        </p:nvSpPr>
        <p:spPr>
          <a:xfrm>
            <a:off x="347472" y="1225296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comparative evaluation of deep learning ASR models — traces evolution from HMM hybrids to end-to-end Transformers. Identifies streaming latency and dialect fairness as primary open research challenges.</a:t>
            </a:r>
            <a:endParaRPr lang="en-US" sz="920"/>
          </a:p>
        </p:txBody>
      </p:sp>
      <p:sp>
        <p:nvSpPr>
          <p:cNvPr id="13" name="Shape 11"/>
          <p:cNvSpPr/>
          <p:nvPr/>
        </p:nvSpPr>
        <p:spPr>
          <a:xfrm>
            <a:off x="4681728" y="932688"/>
            <a:ext cx="427939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81728" y="932688"/>
            <a:ext cx="4279392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73168" y="996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[2] Nayeem et al. 2025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6830568" y="1014984"/>
            <a:ext cx="749808" cy="1828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30568" y="101498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arXiv:2510.12827</a:t>
            </a:r>
            <a:endParaRPr lang="en-US" sz="750"/>
          </a:p>
        </p:txBody>
      </p:sp>
      <p:sp>
        <p:nvSpPr>
          <p:cNvPr id="18" name="Text 16"/>
          <p:cNvSpPr/>
          <p:nvPr/>
        </p:nvSpPr>
        <p:spPr>
          <a:xfrm>
            <a:off x="4773168" y="1225296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modern ASR paradigms from CTC/RNN-T to large-scale self-supervised foundation models. Identifies persistent gaps in nonstandard accent robustness and fairness evaluation — directly motivating this work.</a:t>
            </a:r>
            <a:endParaRPr lang="en-US" sz="920"/>
          </a:p>
        </p:txBody>
      </p:sp>
      <p:sp>
        <p:nvSpPr>
          <p:cNvPr id="19" name="Shape 17"/>
          <p:cNvSpPr/>
          <p:nvPr/>
        </p:nvSpPr>
        <p:spPr>
          <a:xfrm>
            <a:off x="256032" y="1627632"/>
            <a:ext cx="427939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1627632"/>
            <a:ext cx="427939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1691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[3] Baevski et al. 2020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2404872" y="1709928"/>
            <a:ext cx="74980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04872" y="170992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</a:t>
            </a:r>
            <a:endParaRPr lang="en-US" sz="750"/>
          </a:p>
        </p:txBody>
      </p:sp>
      <p:sp>
        <p:nvSpPr>
          <p:cNvPr id="24" name="Text 22"/>
          <p:cNvSpPr/>
          <p:nvPr/>
        </p:nvSpPr>
        <p:spPr>
          <a:xfrm>
            <a:off x="347472" y="1920240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 2.0: contrastive self-supervised learning on unlabelled audio learns powerful speech representations. Achieves state-of-the-art on low-resource benchmarks; forms the backbone of XLS-R used in this study.</a:t>
            </a:r>
            <a:endParaRPr lang="en-US" sz="920"/>
          </a:p>
        </p:txBody>
      </p:sp>
      <p:sp>
        <p:nvSpPr>
          <p:cNvPr id="25" name="Shape 23"/>
          <p:cNvSpPr/>
          <p:nvPr/>
        </p:nvSpPr>
        <p:spPr>
          <a:xfrm>
            <a:off x="4681728" y="1627632"/>
            <a:ext cx="427939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81728" y="1627632"/>
            <a:ext cx="4279392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73168" y="1691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[4] Radford et al. 2022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6830568" y="1709928"/>
            <a:ext cx="749808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30568" y="170992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arXiv:2212.04356</a:t>
            </a:r>
            <a:endParaRPr lang="en-US" sz="750"/>
          </a:p>
        </p:txBody>
      </p:sp>
      <p:sp>
        <p:nvSpPr>
          <p:cNvPr id="30" name="Text 28"/>
          <p:cNvSpPr/>
          <p:nvPr/>
        </p:nvSpPr>
        <p:spPr>
          <a:xfrm>
            <a:off x="4773168" y="1920240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Whisper: trained on 680,000 hours of weakly supervised multilingual audio. Seq2seq objective provides implicit language model decoding, achieving strong zero-shot generalisation — best model in this study (WER=9%).</a:t>
            </a:r>
            <a:endParaRPr lang="en-US" sz="920"/>
          </a:p>
        </p:txBody>
      </p:sp>
      <p:sp>
        <p:nvSpPr>
          <p:cNvPr id="31" name="Shape 29"/>
          <p:cNvSpPr/>
          <p:nvPr/>
        </p:nvSpPr>
        <p:spPr>
          <a:xfrm>
            <a:off x="256032" y="2322576"/>
            <a:ext cx="427939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6032" y="2322576"/>
            <a:ext cx="427939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7472" y="23865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[6] Gulati et al. 2020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2404872" y="2404872"/>
            <a:ext cx="74980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404872" y="24048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Interspeech</a:t>
            </a:r>
            <a:endParaRPr lang="en-US" sz="750"/>
          </a:p>
        </p:txBody>
      </p:sp>
      <p:sp>
        <p:nvSpPr>
          <p:cNvPr id="36" name="Text 34"/>
          <p:cNvSpPr/>
          <p:nvPr/>
        </p:nvSpPr>
        <p:spPr>
          <a:xfrm>
            <a:off x="347472" y="26151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Conformer: interleaves convolution and multi-head self-attention to capture both local phoneme-level and global sentence-level patterns simultaneously. State-of-the-art on LibriSpeech at publication time.</a:t>
            </a:r>
            <a:endParaRPr lang="en-US" sz="920"/>
          </a:p>
        </p:txBody>
      </p:sp>
      <p:sp>
        <p:nvSpPr>
          <p:cNvPr id="37" name="Shape 35"/>
          <p:cNvSpPr/>
          <p:nvPr/>
        </p:nvSpPr>
        <p:spPr>
          <a:xfrm>
            <a:off x="4681728" y="2322576"/>
            <a:ext cx="427939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81728" y="2322576"/>
            <a:ext cx="4279392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73168" y="23865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[7] Babu et al. 2022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6830568" y="2404872"/>
            <a:ext cx="749808" cy="1828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830568" y="24048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Interspeech</a:t>
            </a:r>
            <a:endParaRPr lang="en-US" sz="750"/>
          </a:p>
        </p:txBody>
      </p:sp>
      <p:sp>
        <p:nvSpPr>
          <p:cNvPr id="42" name="Text 40"/>
          <p:cNvSpPr/>
          <p:nvPr/>
        </p:nvSpPr>
        <p:spPr>
          <a:xfrm>
            <a:off x="4773168" y="26151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XLS-R: extends Wav2Vec 2.0 to 128 languages on 436,000 hours of cross-lingual data. Strong multilingual transfer — achieves WER=14% zero-shot on Common Voice en-AU in this study without any accented-English training.</a:t>
            </a:r>
            <a:endParaRPr lang="en-US" sz="920"/>
          </a:p>
        </p:txBody>
      </p:sp>
      <p:sp>
        <p:nvSpPr>
          <p:cNvPr id="43" name="Shape 41"/>
          <p:cNvSpPr/>
          <p:nvPr/>
        </p:nvSpPr>
        <p:spPr>
          <a:xfrm>
            <a:off x="256032" y="3017520"/>
            <a:ext cx="8631936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56032" y="3017520"/>
            <a:ext cx="8631936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47472" y="30906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[14] Kriman et al. 2020</a:t>
            </a:r>
            <a:endParaRPr lang="en-US" sz="1050"/>
          </a:p>
        </p:txBody>
      </p:sp>
      <p:sp>
        <p:nvSpPr>
          <p:cNvPr id="46" name="Shape 44"/>
          <p:cNvSpPr/>
          <p:nvPr/>
        </p:nvSpPr>
        <p:spPr>
          <a:xfrm>
            <a:off x="2606040" y="3108960"/>
            <a:ext cx="73152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606040" y="3108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ICASSP</a:t>
            </a:r>
            <a:endParaRPr lang="en-US" sz="800"/>
          </a:p>
        </p:txBody>
      </p:sp>
      <p:sp>
        <p:nvSpPr>
          <p:cNvPr id="48" name="Text 46"/>
          <p:cNvSpPr/>
          <p:nvPr/>
        </p:nvSpPr>
        <p:spPr>
          <a:xfrm>
            <a:off x="3429000" y="3072384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QuartzNet 5×5: 1D time-channel separable convolutions in 5×5 blocks. Only 6.7M parameters — 36× smaller than XLS-R — providing a speed/accuracy baseline and demonstrating that compact CNN models fall short of pretrained Transformers.</a:t>
            </a:r>
            <a:endParaRPr lang="en-US" sz="980"/>
          </a:p>
        </p:txBody>
      </p:sp>
      <p:sp>
        <p:nvSpPr>
          <p:cNvPr id="49" name="Shape 41">
            <a:extLst>
              <a:ext uri="{FF2B5EF4-FFF2-40B4-BE49-F238E27FC236}">
                <a16:creationId xmlns:a16="http://schemas.microsoft.com/office/drawing/2014/main" id="{8EE0003E-4494-A519-3A48-1B304B7A141C}"/>
              </a:ext>
            </a:extLst>
          </p:cNvPr>
          <p:cNvSpPr/>
          <p:nvPr/>
        </p:nvSpPr>
        <p:spPr>
          <a:xfrm>
            <a:off x="237744" y="4082796"/>
            <a:ext cx="8631936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r>
              <a:rPr lang="en-US"/>
              <a:t>Conference submission ready paper with our proposed methodology: </a:t>
            </a:r>
            <a:r>
              <a:rPr lang="en-US">
                <a:hlinkClick r:id="rId3"/>
              </a:rPr>
              <a:t>Paper</a:t>
            </a:r>
            <a:endParaRPr lang="en-US"/>
          </a:p>
        </p:txBody>
      </p:sp>
      <p:sp>
        <p:nvSpPr>
          <p:cNvPr id="50" name="Shape 42">
            <a:extLst>
              <a:ext uri="{FF2B5EF4-FFF2-40B4-BE49-F238E27FC236}">
                <a16:creationId xmlns:a16="http://schemas.microsoft.com/office/drawing/2014/main" id="{23394175-7E93-6FE3-8522-B52D0654A3ED}"/>
              </a:ext>
            </a:extLst>
          </p:cNvPr>
          <p:cNvSpPr/>
          <p:nvPr/>
        </p:nvSpPr>
        <p:spPr>
          <a:xfrm>
            <a:off x="256032" y="3936492"/>
            <a:ext cx="8631936" cy="1920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6858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Related Works — PEFT Methods &amp; Emerging SSMs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fine-tuning and state-space model literature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8631936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932688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Parameter-Efficient Fine-Tuning (PEFT)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301752" y="1232978"/>
            <a:ext cx="281635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01752" y="1253459"/>
            <a:ext cx="2816352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131673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[5] Hu et al. 2022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1920240" y="1380744"/>
            <a:ext cx="749808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97380" y="13856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</a:t>
            </a:r>
            <a:endParaRPr lang="en-US" sz="750"/>
          </a:p>
        </p:txBody>
      </p:sp>
      <p:sp>
        <p:nvSpPr>
          <p:cNvPr id="14" name="Text 12"/>
          <p:cNvSpPr/>
          <p:nvPr/>
        </p:nvSpPr>
        <p:spPr>
          <a:xfrm>
            <a:off x="347472" y="1667656"/>
            <a:ext cx="26334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(Low-Rank Adaptation): injects trainable matrices W≈W₀+BA into frozen pretrained weights. Reduces trainable parameters by orders of magnitude. Originally developed for LLMs, this study demonstrates its efficacy for large-scale ASR. Rank r=8 reduces Whisper-Small from 244M to 4.7M trainable params.</a:t>
            </a:r>
            <a:endParaRPr lang="en-US" sz="920"/>
          </a:p>
        </p:txBody>
      </p:sp>
      <p:sp>
        <p:nvSpPr>
          <p:cNvPr id="15" name="Shape 13"/>
          <p:cNvSpPr/>
          <p:nvPr/>
        </p:nvSpPr>
        <p:spPr>
          <a:xfrm>
            <a:off x="3200400" y="1261872"/>
            <a:ext cx="281635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1261872"/>
            <a:ext cx="2816352" cy="5029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0" y="131673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[15] Dettmers et al. 2022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3291840" y="1554480"/>
            <a:ext cx="749808" cy="18288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15544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arXiv:2208.07339</a:t>
            </a:r>
            <a:endParaRPr lang="en-US" sz="750"/>
          </a:p>
        </p:txBody>
      </p:sp>
      <p:sp>
        <p:nvSpPr>
          <p:cNvPr id="20" name="Text 18"/>
          <p:cNvSpPr/>
          <p:nvPr/>
        </p:nvSpPr>
        <p:spPr>
          <a:xfrm>
            <a:off x="3291840" y="1773936"/>
            <a:ext cx="26334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LLM.int8(): 8-bit matrix multiplication via mixed decomposition. Enables single-GPU (16 GB P100) training of 244M-parameter models through BitsAndBytes integration, with ~75% optimizer memory reduction versus FP32 Adam — critical for Kaggle-constrained experiments.</a:t>
            </a:r>
            <a:endParaRPr lang="en-US" sz="920"/>
          </a:p>
        </p:txBody>
      </p:sp>
      <p:sp>
        <p:nvSpPr>
          <p:cNvPr id="21" name="Shape 19"/>
          <p:cNvSpPr/>
          <p:nvPr/>
        </p:nvSpPr>
        <p:spPr>
          <a:xfrm>
            <a:off x="6144768" y="1261872"/>
            <a:ext cx="281635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44768" y="1261872"/>
            <a:ext cx="281635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36208" y="131673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[17] Wolf et al. 2020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6236208" y="1554480"/>
            <a:ext cx="74980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36208" y="15544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</a:t>
            </a:r>
            <a:endParaRPr lang="en-US" sz="750"/>
          </a:p>
        </p:txBody>
      </p:sp>
      <p:sp>
        <p:nvSpPr>
          <p:cNvPr id="26" name="Text 24"/>
          <p:cNvSpPr/>
          <p:nvPr/>
        </p:nvSpPr>
        <p:spPr>
          <a:xfrm>
            <a:off x="6236208" y="1773936"/>
            <a:ext cx="26334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Transformers: the de facto open-source library for NLP and speech model development. Provides unified APIs for Whisper, Wav2Vec 2.0, XLS-R, and LoRA PEFT integration used throughout this study. Enables reproducible cross-architecture comparisons.</a:t>
            </a:r>
            <a:endParaRPr lang="en-US" sz="920"/>
          </a:p>
        </p:txBody>
      </p:sp>
      <p:sp>
        <p:nvSpPr>
          <p:cNvPr id="27" name="Shape 25"/>
          <p:cNvSpPr/>
          <p:nvPr/>
        </p:nvSpPr>
        <p:spPr>
          <a:xfrm>
            <a:off x="256032" y="2651760"/>
            <a:ext cx="8631936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6032" y="265176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Speech Enhancement &amp; Structured State-Space Models (SSMs)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256032" y="2980944"/>
            <a:ext cx="2084832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6032" y="2980944"/>
            <a:ext cx="2084832" cy="502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9184" y="303580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[8] Mawalim et al. 2024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329184" y="3255264"/>
            <a:ext cx="658368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9184" y="325526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Interspeech</a:t>
            </a:r>
            <a:endParaRPr lang="en-US" sz="700"/>
          </a:p>
        </p:txBody>
      </p:sp>
      <p:sp>
        <p:nvSpPr>
          <p:cNvPr id="34" name="Text 32"/>
          <p:cNvSpPr/>
          <p:nvPr/>
        </p:nvSpPr>
        <p:spPr>
          <a:xfrm>
            <a:off x="329184" y="3456432"/>
            <a:ext cx="193852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SE (DeepFilterNet, Wave-U-Net) does not reliably lower WER in noisy environments — motivating our focus on model-level robustness rather than upstream speech enhancement preprocessing.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2468880" y="2980944"/>
            <a:ext cx="2084832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468880" y="2980944"/>
            <a:ext cx="2084832" cy="502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542032" y="303580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[9] Rajendran et al. 2024</a:t>
            </a:r>
            <a:endParaRPr lang="en-US" sz="950"/>
          </a:p>
        </p:txBody>
      </p:sp>
      <p:sp>
        <p:nvSpPr>
          <p:cNvPr id="38" name="Shape 36"/>
          <p:cNvSpPr/>
          <p:nvPr/>
        </p:nvSpPr>
        <p:spPr>
          <a:xfrm>
            <a:off x="2542032" y="3255264"/>
            <a:ext cx="658368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542032" y="325526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endParaRPr lang="en-US" sz="700"/>
          </a:p>
        </p:txBody>
      </p:sp>
      <p:sp>
        <p:nvSpPr>
          <p:cNvPr id="40" name="Text 38"/>
          <p:cNvSpPr/>
          <p:nvPr/>
        </p:nvSpPr>
        <p:spPr>
          <a:xfrm>
            <a:off x="2542032" y="3456432"/>
            <a:ext cx="193852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9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integration of speech enhancement and ASR models for robust recognition. Highlights the persistent gap between perceptual quality (PESQ/STOI) and ASR WER improvements in real-world conditions.</a:t>
            </a:r>
            <a:endParaRPr lang="en-US" sz="900"/>
          </a:p>
        </p:txBody>
      </p:sp>
      <p:sp>
        <p:nvSpPr>
          <p:cNvPr id="41" name="Shape 39"/>
          <p:cNvSpPr/>
          <p:nvPr/>
        </p:nvSpPr>
        <p:spPr>
          <a:xfrm>
            <a:off x="4681728" y="2980944"/>
            <a:ext cx="2084832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81728" y="2980944"/>
            <a:ext cx="2084832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0" y="303580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[10] Chao et al. 2025</a:t>
            </a:r>
            <a:endParaRPr lang="en-US" sz="950"/>
          </a:p>
        </p:txBody>
      </p:sp>
      <p:sp>
        <p:nvSpPr>
          <p:cNvPr id="44" name="Shape 42"/>
          <p:cNvSpPr/>
          <p:nvPr/>
        </p:nvSpPr>
        <p:spPr>
          <a:xfrm>
            <a:off x="4754880" y="3255264"/>
            <a:ext cx="658368" cy="1645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54880" y="325526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Interspeech</a:t>
            </a:r>
            <a:endParaRPr lang="en-US" sz="700"/>
          </a:p>
        </p:txBody>
      </p:sp>
      <p:sp>
        <p:nvSpPr>
          <p:cNvPr id="46" name="Text 44"/>
          <p:cNvSpPr/>
          <p:nvPr/>
        </p:nvSpPr>
        <p:spPr>
          <a:xfrm>
            <a:off x="4754880" y="3456432"/>
            <a:ext cx="193852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USEMamba: universal speech enhancement via regression + generative Mamba. Offers linear-complexity alternative to Transformer attention — a future integration candidate for streaming ASR in this framework.</a:t>
            </a:r>
            <a:endParaRPr lang="en-US" sz="900"/>
          </a:p>
        </p:txBody>
      </p:sp>
      <p:sp>
        <p:nvSpPr>
          <p:cNvPr id="47" name="Shape 45"/>
          <p:cNvSpPr/>
          <p:nvPr/>
        </p:nvSpPr>
        <p:spPr>
          <a:xfrm>
            <a:off x="6894576" y="2980944"/>
            <a:ext cx="2084832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894576" y="2980944"/>
            <a:ext cx="208483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967728" y="303580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[11] Shakhadri et al. 2025</a:t>
            </a:r>
            <a:endParaRPr lang="en-US" sz="950"/>
          </a:p>
        </p:txBody>
      </p:sp>
      <p:sp>
        <p:nvSpPr>
          <p:cNvPr id="50" name="Shape 48"/>
          <p:cNvSpPr/>
          <p:nvPr/>
        </p:nvSpPr>
        <p:spPr>
          <a:xfrm>
            <a:off x="6967728" y="3255264"/>
            <a:ext cx="658368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967728" y="325526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endParaRPr lang="en-US" sz="700"/>
          </a:p>
        </p:txBody>
      </p:sp>
      <p:sp>
        <p:nvSpPr>
          <p:cNvPr id="52" name="Text 50"/>
          <p:cNvSpPr/>
          <p:nvPr/>
        </p:nvSpPr>
        <p:spPr>
          <a:xfrm>
            <a:off x="6967728" y="3456432"/>
            <a:ext cx="193852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Samba-ASR: structured state-space models for streaming-friendly long-form transcription. Directly cited as a future direction to overcome Whisper's fixed 30-second context window limitation.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Collection — Statistics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LibriSpeech (source domain) vs Mozilla Common Voice v24 en-AU (target)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256032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2816352" y="932688"/>
            <a:ext cx="2761488" cy="2926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16352" y="932688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LibriSpeech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5577840" y="932688"/>
            <a:ext cx="331012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77840" y="932688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Voice v24 en-AU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256032" y="1225296"/>
            <a:ext cx="2560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" y="12252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Utterances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2816352" y="1225296"/>
            <a:ext cx="2761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889504" y="1225296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109,337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5577840" y="1225296"/>
            <a:ext cx="33101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50992" y="1225296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55,673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1527048"/>
            <a:ext cx="2560320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9184" y="1527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Speakers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816352" y="1527048"/>
            <a:ext cx="2761488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89504" y="152704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1,001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5577840" y="1527048"/>
            <a:ext cx="3310128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50992" y="152704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842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256032" y="1828800"/>
            <a:ext cx="2560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" y="1828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Clip Duration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816352" y="1828800"/>
            <a:ext cx="2761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889504" y="182880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12.29 s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5577840" y="1828800"/>
            <a:ext cx="33101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50992" y="1828800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5.03 s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256032" y="2130552"/>
            <a:ext cx="2560320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9184" y="21305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Duration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2816352" y="2130552"/>
            <a:ext cx="2761488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889504" y="2130552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3.91 s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5577840" y="2130552"/>
            <a:ext cx="3310128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50992" y="213055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1.65 s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256032" y="2432304"/>
            <a:ext cx="2560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9184" y="24323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 Duration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2816352" y="2432304"/>
            <a:ext cx="2761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889504" y="2432304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1.83 s / 28.57 s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5577840" y="2432304"/>
            <a:ext cx="33101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50992" y="2432304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 s / 10.83 s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256032" y="2734056"/>
            <a:ext cx="2560320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29184" y="27340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Gini Coefficient</a:t>
            </a:r>
            <a:endParaRPr lang="en-US" sz="1000"/>
          </a:p>
        </p:txBody>
      </p:sp>
      <p:sp>
        <p:nvSpPr>
          <p:cNvPr id="45" name="Shape 43"/>
          <p:cNvSpPr/>
          <p:nvPr/>
        </p:nvSpPr>
        <p:spPr>
          <a:xfrm>
            <a:off x="2816352" y="2734056"/>
            <a:ext cx="2761488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889504" y="2734056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0.0966  ✅ (balanced)</a:t>
            </a:r>
            <a:endParaRPr lang="en-US" sz="1000"/>
          </a:p>
        </p:txBody>
      </p:sp>
      <p:sp>
        <p:nvSpPr>
          <p:cNvPr id="47" name="Shape 45"/>
          <p:cNvSpPr/>
          <p:nvPr/>
        </p:nvSpPr>
        <p:spPr>
          <a:xfrm>
            <a:off x="5577840" y="2734056"/>
            <a:ext cx="3310128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650992" y="2734056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0.8108  ⚠️ (highly skewed)</a:t>
            </a:r>
            <a:endParaRPr lang="en-US" sz="1000"/>
          </a:p>
        </p:txBody>
      </p:sp>
      <p:sp>
        <p:nvSpPr>
          <p:cNvPr id="49" name="Shape 47"/>
          <p:cNvSpPr/>
          <p:nvPr/>
        </p:nvSpPr>
        <p:spPr>
          <a:xfrm>
            <a:off x="256032" y="3035808"/>
            <a:ext cx="2560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9184" y="30358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Speaker Share</a:t>
            </a:r>
            <a:endParaRPr lang="en-US" sz="1000"/>
          </a:p>
        </p:txBody>
      </p:sp>
      <p:sp>
        <p:nvSpPr>
          <p:cNvPr id="51" name="Shape 49"/>
          <p:cNvSpPr/>
          <p:nvPr/>
        </p:nvSpPr>
        <p:spPr>
          <a:xfrm>
            <a:off x="2816352" y="3035808"/>
            <a:ext cx="2761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889504" y="303580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12.52%</a:t>
            </a:r>
            <a:endParaRPr lang="en-US" sz="1000"/>
          </a:p>
        </p:txBody>
      </p:sp>
      <p:sp>
        <p:nvSpPr>
          <p:cNvPr id="53" name="Shape 51"/>
          <p:cNvSpPr/>
          <p:nvPr/>
        </p:nvSpPr>
        <p:spPr>
          <a:xfrm>
            <a:off x="5577840" y="3035808"/>
            <a:ext cx="33101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650992" y="303580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32.97%</a:t>
            </a:r>
            <a:endParaRPr lang="en-US" sz="1000"/>
          </a:p>
        </p:txBody>
      </p:sp>
      <p:sp>
        <p:nvSpPr>
          <p:cNvPr id="55" name="Shape 53"/>
          <p:cNvSpPr/>
          <p:nvPr/>
        </p:nvSpPr>
        <p:spPr>
          <a:xfrm>
            <a:off x="256032" y="3337560"/>
            <a:ext cx="2560320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9184" y="3337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Speaker Utterances</a:t>
            </a:r>
            <a:endParaRPr lang="en-US" sz="1000"/>
          </a:p>
        </p:txBody>
      </p:sp>
      <p:sp>
        <p:nvSpPr>
          <p:cNvPr id="57" name="Shape 55"/>
          <p:cNvSpPr/>
          <p:nvPr/>
        </p:nvSpPr>
        <p:spPr>
          <a:xfrm>
            <a:off x="2816352" y="3337560"/>
            <a:ext cx="2761488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889504" y="333756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~1.4%</a:t>
            </a:r>
            <a:endParaRPr lang="en-US" sz="1000"/>
          </a:p>
        </p:txBody>
      </p:sp>
      <p:sp>
        <p:nvSpPr>
          <p:cNvPr id="59" name="Shape 57"/>
          <p:cNvSpPr/>
          <p:nvPr/>
        </p:nvSpPr>
        <p:spPr>
          <a:xfrm>
            <a:off x="5577840" y="3337560"/>
            <a:ext cx="3310128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650992" y="3337560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17.62%</a:t>
            </a:r>
            <a:endParaRPr lang="en-US" sz="1000"/>
          </a:p>
        </p:txBody>
      </p:sp>
      <p:sp>
        <p:nvSpPr>
          <p:cNvPr id="61" name="Shape 59"/>
          <p:cNvSpPr/>
          <p:nvPr/>
        </p:nvSpPr>
        <p:spPr>
          <a:xfrm>
            <a:off x="256032" y="3639312"/>
            <a:ext cx="2560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29184" y="3639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Size (types)</a:t>
            </a:r>
            <a:endParaRPr lang="en-US" sz="1000"/>
          </a:p>
        </p:txBody>
      </p:sp>
      <p:sp>
        <p:nvSpPr>
          <p:cNvPr id="63" name="Shape 61"/>
          <p:cNvSpPr/>
          <p:nvPr/>
        </p:nvSpPr>
        <p:spPr>
          <a:xfrm>
            <a:off x="2816352" y="3639312"/>
            <a:ext cx="2761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889504" y="3639312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85,033</a:t>
            </a:r>
            <a:endParaRPr lang="en-US" sz="1000"/>
          </a:p>
        </p:txBody>
      </p:sp>
      <p:sp>
        <p:nvSpPr>
          <p:cNvPr id="65" name="Shape 63"/>
          <p:cNvSpPr/>
          <p:nvPr/>
        </p:nvSpPr>
        <p:spPr>
          <a:xfrm>
            <a:off x="5577840" y="3639312"/>
            <a:ext cx="33101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650992" y="363931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221,172</a:t>
            </a:r>
            <a:endParaRPr lang="en-US" sz="1000"/>
          </a:p>
        </p:txBody>
      </p:sp>
      <p:sp>
        <p:nvSpPr>
          <p:cNvPr id="67" name="Shape 65"/>
          <p:cNvSpPr/>
          <p:nvPr/>
        </p:nvSpPr>
        <p:spPr>
          <a:xfrm>
            <a:off x="256032" y="3941064"/>
            <a:ext cx="2560320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29184" y="39410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Words / Transcript</a:t>
            </a:r>
            <a:endParaRPr lang="en-US" sz="1000"/>
          </a:p>
        </p:txBody>
      </p:sp>
      <p:sp>
        <p:nvSpPr>
          <p:cNvPr id="69" name="Shape 67"/>
          <p:cNvSpPr/>
          <p:nvPr/>
        </p:nvSpPr>
        <p:spPr>
          <a:xfrm>
            <a:off x="2816352" y="3941064"/>
            <a:ext cx="2761488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889504" y="3941064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words</a:t>
            </a:r>
            <a:endParaRPr lang="en-US" sz="1000"/>
          </a:p>
        </p:txBody>
      </p:sp>
      <p:sp>
        <p:nvSpPr>
          <p:cNvPr id="71" name="Shape 69"/>
          <p:cNvSpPr/>
          <p:nvPr/>
        </p:nvSpPr>
        <p:spPr>
          <a:xfrm>
            <a:off x="5577840" y="3941064"/>
            <a:ext cx="3310128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650992" y="3941064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words</a:t>
            </a:r>
            <a:endParaRPr lang="en-US" sz="1000"/>
          </a:p>
        </p:txBody>
      </p:sp>
      <p:sp>
        <p:nvSpPr>
          <p:cNvPr id="73" name="Shape 71"/>
          <p:cNvSpPr/>
          <p:nvPr/>
        </p:nvSpPr>
        <p:spPr>
          <a:xfrm>
            <a:off x="256032" y="4242816"/>
            <a:ext cx="2560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29184" y="42428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(M/F/Unk)</a:t>
            </a:r>
            <a:endParaRPr lang="en-US" sz="1000"/>
          </a:p>
        </p:txBody>
      </p:sp>
      <p:sp>
        <p:nvSpPr>
          <p:cNvPr id="75" name="Shape 73"/>
          <p:cNvSpPr/>
          <p:nvPr/>
        </p:nvSpPr>
        <p:spPr>
          <a:xfrm>
            <a:off x="2816352" y="4242816"/>
            <a:ext cx="2761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2889504" y="4242816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/>
          </a:p>
        </p:txBody>
      </p:sp>
      <p:sp>
        <p:nvSpPr>
          <p:cNvPr id="77" name="Shape 75"/>
          <p:cNvSpPr/>
          <p:nvPr/>
        </p:nvSpPr>
        <p:spPr>
          <a:xfrm>
            <a:off x="5577840" y="4242816"/>
            <a:ext cx="33101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5650992" y="4242816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55.8% / 17.4% / 26.8%</a:t>
            </a:r>
            <a:endParaRPr lang="en-US" sz="1000"/>
          </a:p>
        </p:txBody>
      </p:sp>
      <p:sp>
        <p:nvSpPr>
          <p:cNvPr id="79" name="Shape 77"/>
          <p:cNvSpPr/>
          <p:nvPr/>
        </p:nvSpPr>
        <p:spPr>
          <a:xfrm>
            <a:off x="256032" y="4544568"/>
            <a:ext cx="2560320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29184" y="4544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Format</a:t>
            </a:r>
            <a:endParaRPr lang="en-US" sz="1000"/>
          </a:p>
        </p:txBody>
      </p:sp>
      <p:sp>
        <p:nvSpPr>
          <p:cNvPr id="81" name="Shape 79"/>
          <p:cNvSpPr/>
          <p:nvPr/>
        </p:nvSpPr>
        <p:spPr>
          <a:xfrm>
            <a:off x="2816352" y="4544568"/>
            <a:ext cx="2761488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2889504" y="454456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FLAC, 16 kHz</a:t>
            </a:r>
            <a:endParaRPr lang="en-US" sz="1000"/>
          </a:p>
        </p:txBody>
      </p:sp>
      <p:sp>
        <p:nvSpPr>
          <p:cNvPr id="83" name="Shape 81"/>
          <p:cNvSpPr/>
          <p:nvPr/>
        </p:nvSpPr>
        <p:spPr>
          <a:xfrm>
            <a:off x="5577840" y="4544568"/>
            <a:ext cx="3310128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650992" y="454456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</a:t>
            </a:r>
            <a:endParaRPr lang="en-US" sz="1000"/>
          </a:p>
        </p:txBody>
      </p:sp>
      <p:sp>
        <p:nvSpPr>
          <p:cNvPr id="85" name="Shape 83"/>
          <p:cNvSpPr/>
          <p:nvPr/>
        </p:nvSpPr>
        <p:spPr>
          <a:xfrm>
            <a:off x="256032" y="4846320"/>
            <a:ext cx="2560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329184" y="4846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000"/>
          </a:p>
        </p:txBody>
      </p:sp>
      <p:sp>
        <p:nvSpPr>
          <p:cNvPr id="87" name="Shape 85"/>
          <p:cNvSpPr/>
          <p:nvPr/>
        </p:nvSpPr>
        <p:spPr>
          <a:xfrm>
            <a:off x="2816352" y="4846320"/>
            <a:ext cx="2761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2889504" y="484632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 4.0</a:t>
            </a:r>
            <a:endParaRPr lang="en-US" sz="1000"/>
          </a:p>
        </p:txBody>
      </p:sp>
      <p:sp>
        <p:nvSpPr>
          <p:cNvPr id="89" name="Shape 87"/>
          <p:cNvSpPr/>
          <p:nvPr/>
        </p:nvSpPr>
        <p:spPr>
          <a:xfrm>
            <a:off x="5577840" y="4846320"/>
            <a:ext cx="331012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5650992" y="4846320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Collection — EDA &amp; Domain Shift Analysis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imbalance, vocabulary mismatch, and audio quality diagnostics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256032" y="9326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Pipeline Overview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256032" y="1243584"/>
            <a:ext cx="804672" cy="100584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128016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 &amp;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 Resolve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256032" y="1700784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files,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audio path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1060704" y="1746504"/>
            <a:ext cx="73152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33856" y="1243584"/>
            <a:ext cx="804672" cy="100584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33856" y="128016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Metadata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&amp; Clean</a:t>
            </a:r>
            <a:endParaRPr lang="en-US" sz="850"/>
          </a:p>
        </p:txBody>
      </p:sp>
      <p:sp>
        <p:nvSpPr>
          <p:cNvPr id="14" name="Text 12"/>
          <p:cNvSpPr/>
          <p:nvPr/>
        </p:nvSpPr>
        <p:spPr>
          <a:xfrm>
            <a:off x="1133856" y="1700784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norm, missing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audit</a:t>
            </a:r>
            <a:endParaRPr lang="en-US" sz="750"/>
          </a:p>
        </p:txBody>
      </p:sp>
      <p:sp>
        <p:nvSpPr>
          <p:cNvPr id="15" name="Shape 13"/>
          <p:cNvSpPr/>
          <p:nvPr/>
        </p:nvSpPr>
        <p:spPr>
          <a:xfrm>
            <a:off x="1938528" y="1746504"/>
            <a:ext cx="73152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0" y="1243584"/>
            <a:ext cx="804672" cy="100584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128016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Transcript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</a:t>
            </a:r>
            <a:endParaRPr lang="en-US" sz="850"/>
          </a:p>
        </p:txBody>
      </p:sp>
      <p:sp>
        <p:nvSpPr>
          <p:cNvPr id="18" name="Text 16"/>
          <p:cNvSpPr/>
          <p:nvPr/>
        </p:nvSpPr>
        <p:spPr>
          <a:xfrm>
            <a:off x="2011680" y="1700784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chars, words,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histograms</a:t>
            </a:r>
            <a:endParaRPr lang="en-US" sz="750"/>
          </a:p>
        </p:txBody>
      </p:sp>
      <p:sp>
        <p:nvSpPr>
          <p:cNvPr id="19" name="Shape 17"/>
          <p:cNvSpPr/>
          <p:nvPr/>
        </p:nvSpPr>
        <p:spPr>
          <a:xfrm>
            <a:off x="2816352" y="1746504"/>
            <a:ext cx="73152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889504" y="1243584"/>
            <a:ext cx="804672" cy="100584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89504" y="128016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 Duration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Quality</a:t>
            </a:r>
            <a:endParaRPr lang="en-US" sz="850"/>
          </a:p>
        </p:txBody>
      </p:sp>
      <p:sp>
        <p:nvSpPr>
          <p:cNvPr id="22" name="Text 20"/>
          <p:cNvSpPr/>
          <p:nvPr/>
        </p:nvSpPr>
        <p:spPr>
          <a:xfrm>
            <a:off x="2889504" y="1700784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silence, clipping,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loudness</a:t>
            </a:r>
            <a:endParaRPr lang="en-US" sz="750"/>
          </a:p>
        </p:txBody>
      </p:sp>
      <p:sp>
        <p:nvSpPr>
          <p:cNvPr id="23" name="Shape 21"/>
          <p:cNvSpPr/>
          <p:nvPr/>
        </p:nvSpPr>
        <p:spPr>
          <a:xfrm>
            <a:off x="3694176" y="1746504"/>
            <a:ext cx="73152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767328" y="1243584"/>
            <a:ext cx="804672" cy="100584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67328" y="128016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Speaker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850"/>
          </a:p>
        </p:txBody>
      </p:sp>
      <p:sp>
        <p:nvSpPr>
          <p:cNvPr id="26" name="Text 24"/>
          <p:cNvSpPr/>
          <p:nvPr/>
        </p:nvSpPr>
        <p:spPr>
          <a:xfrm>
            <a:off x="3767328" y="1700784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Gini, Lorenz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</a:t>
            </a:r>
            <a:endParaRPr lang="en-US" sz="750"/>
          </a:p>
        </p:txBody>
      </p:sp>
      <p:sp>
        <p:nvSpPr>
          <p:cNvPr id="27" name="Shape 25"/>
          <p:cNvSpPr/>
          <p:nvPr/>
        </p:nvSpPr>
        <p:spPr>
          <a:xfrm>
            <a:off x="4572000" y="1746504"/>
            <a:ext cx="73152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45152" y="1243584"/>
            <a:ext cx="804672" cy="100584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45152" y="128016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Vocab &amp;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OOV Shift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4645152" y="1700784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+ subword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rates</a:t>
            </a:r>
            <a:endParaRPr lang="en-US" sz="750"/>
          </a:p>
        </p:txBody>
      </p:sp>
      <p:sp>
        <p:nvSpPr>
          <p:cNvPr id="31" name="Text 29"/>
          <p:cNvSpPr/>
          <p:nvPr/>
        </p:nvSpPr>
        <p:spPr>
          <a:xfrm>
            <a:off x="256032" y="234086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Cross-Dataset OOV Rates</a:t>
            </a:r>
            <a:endParaRPr lang="en-US" sz="1200"/>
          </a:p>
        </p:txBody>
      </p:sp>
      <p:sp>
        <p:nvSpPr>
          <p:cNvPr id="32" name="Shape 30"/>
          <p:cNvSpPr/>
          <p:nvPr/>
        </p:nvSpPr>
        <p:spPr>
          <a:xfrm>
            <a:off x="256032" y="2633472"/>
            <a:ext cx="1828800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56032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Direction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2084832" y="2633472"/>
            <a:ext cx="1005840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084832" y="26334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OOV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3090672" y="2633472"/>
            <a:ext cx="1115568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090672" y="26334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Subword OOV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4206240" y="2633472"/>
            <a:ext cx="1280160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206240" y="26334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Type OOV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5486400" y="2633472"/>
            <a:ext cx="1426464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86400" y="26334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Subword Type OOV</a:t>
            </a:r>
            <a:endParaRPr lang="en-US" sz="900"/>
          </a:p>
        </p:txBody>
      </p:sp>
      <p:sp>
        <p:nvSpPr>
          <p:cNvPr id="42" name="Shape 40"/>
          <p:cNvSpPr/>
          <p:nvPr/>
        </p:nvSpPr>
        <p:spPr>
          <a:xfrm>
            <a:off x="256032" y="2889504"/>
            <a:ext cx="1828800" cy="274320"/>
          </a:xfrm>
          <a:prstGeom prst="rect">
            <a:avLst/>
          </a:prstGeom>
          <a:solidFill>
            <a:srgbClr val="FFF4E6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92608" y="288950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→ LS vocab</a:t>
            </a:r>
            <a:endParaRPr lang="en-US" sz="1000"/>
          </a:p>
        </p:txBody>
      </p:sp>
      <p:sp>
        <p:nvSpPr>
          <p:cNvPr id="44" name="Shape 42"/>
          <p:cNvSpPr/>
          <p:nvPr/>
        </p:nvSpPr>
        <p:spPr>
          <a:xfrm>
            <a:off x="2084832" y="2889504"/>
            <a:ext cx="1005840" cy="274320"/>
          </a:xfrm>
          <a:prstGeom prst="rect">
            <a:avLst/>
          </a:prstGeom>
          <a:solidFill>
            <a:srgbClr val="FFF4E6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121408" y="2889504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18.97% ⚠️</a:t>
            </a:r>
            <a:endParaRPr lang="en-US" sz="1000"/>
          </a:p>
        </p:txBody>
      </p:sp>
      <p:sp>
        <p:nvSpPr>
          <p:cNvPr id="46" name="Shape 44"/>
          <p:cNvSpPr/>
          <p:nvPr/>
        </p:nvSpPr>
        <p:spPr>
          <a:xfrm>
            <a:off x="3090672" y="2889504"/>
            <a:ext cx="1115568" cy="274320"/>
          </a:xfrm>
          <a:prstGeom prst="rect">
            <a:avLst/>
          </a:prstGeom>
          <a:solidFill>
            <a:srgbClr val="FFF4E6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127248" y="288950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12.84% ⚠️</a:t>
            </a:r>
            <a:endParaRPr lang="en-US" sz="1000"/>
          </a:p>
        </p:txBody>
      </p:sp>
      <p:sp>
        <p:nvSpPr>
          <p:cNvPr id="48" name="Shape 46"/>
          <p:cNvSpPr/>
          <p:nvPr/>
        </p:nvSpPr>
        <p:spPr>
          <a:xfrm>
            <a:off x="4206240" y="2889504"/>
            <a:ext cx="1280160" cy="274320"/>
          </a:xfrm>
          <a:prstGeom prst="rect">
            <a:avLst/>
          </a:prstGeom>
          <a:solidFill>
            <a:srgbClr val="FFF4E6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242816" y="288950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82.1%</a:t>
            </a:r>
            <a:endParaRPr lang="en-US" sz="1000"/>
          </a:p>
        </p:txBody>
      </p:sp>
      <p:sp>
        <p:nvSpPr>
          <p:cNvPr id="50" name="Shape 48"/>
          <p:cNvSpPr/>
          <p:nvPr/>
        </p:nvSpPr>
        <p:spPr>
          <a:xfrm>
            <a:off x="5486400" y="2889504"/>
            <a:ext cx="1426464" cy="274320"/>
          </a:xfrm>
          <a:prstGeom prst="rect">
            <a:avLst/>
          </a:prstGeom>
          <a:solidFill>
            <a:srgbClr val="FFF4E6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522976" y="2889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53.7%</a:t>
            </a:r>
            <a:endParaRPr lang="en-US" sz="1000"/>
          </a:p>
        </p:txBody>
      </p:sp>
      <p:sp>
        <p:nvSpPr>
          <p:cNvPr id="52" name="Shape 50"/>
          <p:cNvSpPr/>
          <p:nvPr/>
        </p:nvSpPr>
        <p:spPr>
          <a:xfrm>
            <a:off x="256032" y="3182112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92608" y="318211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→ CV vocab</a:t>
            </a:r>
            <a:endParaRPr lang="en-US" sz="1000"/>
          </a:p>
        </p:txBody>
      </p:sp>
      <p:sp>
        <p:nvSpPr>
          <p:cNvPr id="54" name="Shape 52"/>
          <p:cNvSpPr/>
          <p:nvPr/>
        </p:nvSpPr>
        <p:spPr>
          <a:xfrm>
            <a:off x="2084832" y="3182112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121408" y="318211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4.68%  ✅</a:t>
            </a:r>
            <a:endParaRPr lang="en-US" sz="1000"/>
          </a:p>
        </p:txBody>
      </p:sp>
      <p:sp>
        <p:nvSpPr>
          <p:cNvPr id="56" name="Shape 54"/>
          <p:cNvSpPr/>
          <p:nvPr/>
        </p:nvSpPr>
        <p:spPr>
          <a:xfrm>
            <a:off x="3090672" y="3182112"/>
            <a:ext cx="111556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127248" y="318211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3.61%  ✅</a:t>
            </a:r>
            <a:endParaRPr lang="en-US" sz="1000"/>
          </a:p>
        </p:txBody>
      </p:sp>
      <p:sp>
        <p:nvSpPr>
          <p:cNvPr id="58" name="Shape 56"/>
          <p:cNvSpPr/>
          <p:nvPr/>
        </p:nvSpPr>
        <p:spPr>
          <a:xfrm>
            <a:off x="4206240" y="3182112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242816" y="318211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25.9%</a:t>
            </a:r>
            <a:endParaRPr lang="en-US" sz="1000"/>
          </a:p>
        </p:txBody>
      </p:sp>
      <p:sp>
        <p:nvSpPr>
          <p:cNvPr id="60" name="Shape 58"/>
          <p:cNvSpPr/>
          <p:nvPr/>
        </p:nvSpPr>
        <p:spPr>
          <a:xfrm>
            <a:off x="5486400" y="3182112"/>
            <a:ext cx="142646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522976" y="3182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19.0%</a:t>
            </a:r>
            <a:endParaRPr lang="en-US" sz="1000"/>
          </a:p>
        </p:txBody>
      </p:sp>
      <p:sp>
        <p:nvSpPr>
          <p:cNvPr id="62" name="Shape 60"/>
          <p:cNvSpPr/>
          <p:nvPr/>
        </p:nvSpPr>
        <p:spPr>
          <a:xfrm>
            <a:off x="256032" y="3255264"/>
            <a:ext cx="6803136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47472" y="32918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Insight:</a:t>
            </a:r>
            <a:endParaRPr lang="en-US" sz="1050"/>
          </a:p>
        </p:txBody>
      </p:sp>
      <p:sp>
        <p:nvSpPr>
          <p:cNvPr id="64" name="Text 62"/>
          <p:cNvSpPr/>
          <p:nvPr/>
        </p:nvSpPr>
        <p:spPr>
          <a:xfrm>
            <a:off x="347472" y="3547872"/>
            <a:ext cx="6629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pretrained only on LibriSpeech will encounter 18.97% word-level out-of-vocabulary tokens on Common Voice — even BPE subword tokenisation leaves a 12.84% subword OOV gap. This confirms that two-stage adaptation and confidence denoising are necessary rather than optional.</a:t>
            </a:r>
            <a:endParaRPr lang="en-US" sz="950"/>
          </a:p>
        </p:txBody>
      </p:sp>
      <p:sp>
        <p:nvSpPr>
          <p:cNvPr id="65" name="Shape 63"/>
          <p:cNvSpPr/>
          <p:nvPr/>
        </p:nvSpPr>
        <p:spPr>
          <a:xfrm>
            <a:off x="7150608" y="2340864"/>
            <a:ext cx="1737360" cy="162763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150608" y="23957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Gini Index</a:t>
            </a:r>
            <a:endParaRPr lang="en-US" sz="1050"/>
          </a:p>
        </p:txBody>
      </p:sp>
      <p:sp>
        <p:nvSpPr>
          <p:cNvPr id="67" name="Text 65"/>
          <p:cNvSpPr/>
          <p:nvPr/>
        </p:nvSpPr>
        <p:spPr>
          <a:xfrm>
            <a:off x="7150608" y="2670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LibriSpeech</a:t>
            </a:r>
            <a:endParaRPr lang="en-US" sz="950"/>
          </a:p>
        </p:txBody>
      </p:sp>
      <p:sp>
        <p:nvSpPr>
          <p:cNvPr id="68" name="Text 66"/>
          <p:cNvSpPr/>
          <p:nvPr/>
        </p:nvSpPr>
        <p:spPr>
          <a:xfrm>
            <a:off x="7150608" y="28529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0.097</a:t>
            </a:r>
            <a:endParaRPr lang="en-US" sz="2800"/>
          </a:p>
        </p:txBody>
      </p:sp>
      <p:sp>
        <p:nvSpPr>
          <p:cNvPr id="69" name="Text 67"/>
          <p:cNvSpPr/>
          <p:nvPr/>
        </p:nvSpPr>
        <p:spPr>
          <a:xfrm>
            <a:off x="7150608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Voice</a:t>
            </a:r>
            <a:endParaRPr lang="en-US" sz="950"/>
          </a:p>
        </p:txBody>
      </p:sp>
      <p:sp>
        <p:nvSpPr>
          <p:cNvPr id="70" name="Text 68"/>
          <p:cNvSpPr/>
          <p:nvPr/>
        </p:nvSpPr>
        <p:spPr>
          <a:xfrm>
            <a:off x="7150608" y="343814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0.811</a:t>
            </a:r>
            <a:endParaRPr lang="en-US" sz="2800"/>
          </a:p>
        </p:txBody>
      </p:sp>
      <p:sp>
        <p:nvSpPr>
          <p:cNvPr id="71" name="Shape 69"/>
          <p:cNvSpPr/>
          <p:nvPr/>
        </p:nvSpPr>
        <p:spPr>
          <a:xfrm>
            <a:off x="256032" y="4041648"/>
            <a:ext cx="8631936" cy="80467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47472" y="40965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 Quality Diagnostics  →</a:t>
            </a:r>
            <a:endParaRPr lang="en-US" sz="1050"/>
          </a:p>
        </p:txBody>
      </p:sp>
      <p:sp>
        <p:nvSpPr>
          <p:cNvPr id="73" name="Text 71"/>
          <p:cNvSpPr/>
          <p:nvPr/>
        </p:nvSpPr>
        <p:spPr>
          <a:xfrm>
            <a:off x="2697480" y="4096512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Clips filtered: duration outside 0.2–15 s removed</a:t>
            </a:r>
            <a:endParaRPr lang="en-US" sz="920"/>
          </a:p>
        </p:txBody>
      </p:sp>
      <p:sp>
        <p:nvSpPr>
          <p:cNvPr id="74" name="Text 72"/>
          <p:cNvSpPr/>
          <p:nvPr/>
        </p:nvSpPr>
        <p:spPr>
          <a:xfrm>
            <a:off x="2697480" y="4279392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Silence ratio via RMS thresholding applied</a:t>
            </a:r>
            <a:endParaRPr lang="en-US" sz="920"/>
          </a:p>
        </p:txBody>
      </p:sp>
      <p:sp>
        <p:nvSpPr>
          <p:cNvPr id="75" name="Text 73"/>
          <p:cNvSpPr/>
          <p:nvPr/>
        </p:nvSpPr>
        <p:spPr>
          <a:xfrm>
            <a:off x="2697480" y="4462272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Clipping rate and RMS loudness measured</a:t>
            </a:r>
            <a:endParaRPr lang="en-US" sz="920"/>
          </a:p>
        </p:txBody>
      </p:sp>
      <p:sp>
        <p:nvSpPr>
          <p:cNvPr id="76" name="Text 74"/>
          <p:cNvSpPr/>
          <p:nvPr/>
        </p:nvSpPr>
        <p:spPr>
          <a:xfrm>
            <a:off x="2697480" y="4645152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Common Voice: 100% variant metadata missing, 26.8% gender unknown — noted but not used in training</a:t>
            </a:r>
            <a:endParaRPr lang="en-US" sz="9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— ASR Architecture Overview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architectures spanning CNN, CTC, and encoder-decoder paradigms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2066544" cy="32918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914400"/>
            <a:ext cx="1591056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XLS-R 300M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1847088" y="914400"/>
            <a:ext cx="475488" cy="329184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47088" y="91440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256032" y="1243584"/>
            <a:ext cx="2066544" cy="310896"/>
          </a:xfrm>
          <a:prstGeom prst="rect">
            <a:avLst/>
          </a:prstGeom>
          <a:solidFill>
            <a:srgbClr val="F4F7FB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128016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Wav2Vec 2.0 extension</a:t>
            </a:r>
            <a:endParaRPr lang="en-US" sz="920"/>
          </a:p>
        </p:txBody>
      </p:sp>
      <p:sp>
        <p:nvSpPr>
          <p:cNvPr id="13" name="Shape 11"/>
          <p:cNvSpPr/>
          <p:nvPr/>
        </p:nvSpPr>
        <p:spPr>
          <a:xfrm>
            <a:off x="256032" y="1554480"/>
            <a:ext cx="2066544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" y="1700784"/>
            <a:ext cx="182880" cy="1828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" y="1664208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436,000 hrs • 128 languages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347472" y="2286000"/>
            <a:ext cx="182880" cy="1828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5216" y="224942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CNN feature encoder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347472" y="2871216"/>
            <a:ext cx="182880" cy="1828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" y="2834640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context network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347472" y="3456432"/>
            <a:ext cx="182880" cy="1828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5216" y="3419856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decoding + char-level vocab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182880" cy="1828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5216" y="400507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text normalization (NFKD, lowercasing)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2450592" y="914400"/>
            <a:ext cx="206654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50592" y="914400"/>
            <a:ext cx="1591056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Conformer-CTC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4041648" y="914400"/>
            <a:ext cx="475488" cy="329184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041648" y="91440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~30M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2450592" y="1243584"/>
            <a:ext cx="2066544" cy="310896"/>
          </a:xfrm>
          <a:prstGeom prst="rect">
            <a:avLst/>
          </a:prstGeom>
          <a:solidFill>
            <a:srgbClr val="F4F7FB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14600" y="128016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Convolution-augmented Transformer</a:t>
            </a:r>
            <a:endParaRPr lang="en-US" sz="920"/>
          </a:p>
        </p:txBody>
      </p:sp>
      <p:sp>
        <p:nvSpPr>
          <p:cNvPr id="30" name="Shape 28"/>
          <p:cNvSpPr/>
          <p:nvPr/>
        </p:nvSpPr>
        <p:spPr>
          <a:xfrm>
            <a:off x="2450592" y="1554480"/>
            <a:ext cx="2066544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542032" y="170078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79776" y="1664208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block: FFN → MHSA → DepthwiseSepConv → FFN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2542032" y="22860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79776" y="224942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Half-step residual connections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2542032" y="287121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79776" y="2834640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variants: NeMo pretrained &amp; from-scratch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2542032" y="345643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79776" y="3419856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SpecAugment + additive waveform noise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2542032" y="404164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79776" y="400507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layers, 256 dim, 4 heads (scratch)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4645152" y="914400"/>
            <a:ext cx="2066544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45152" y="914400"/>
            <a:ext cx="1591056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Whisper-Small</a:t>
            </a:r>
            <a:endParaRPr lang="en-US" sz="1100"/>
          </a:p>
        </p:txBody>
      </p:sp>
      <p:sp>
        <p:nvSpPr>
          <p:cNvPr id="43" name="Shape 41"/>
          <p:cNvSpPr/>
          <p:nvPr/>
        </p:nvSpPr>
        <p:spPr>
          <a:xfrm>
            <a:off x="6236208" y="914400"/>
            <a:ext cx="475488" cy="329184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36208" y="91440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244M</a:t>
            </a:r>
            <a:endParaRPr lang="en-US" sz="900"/>
          </a:p>
        </p:txBody>
      </p:sp>
      <p:sp>
        <p:nvSpPr>
          <p:cNvPr id="45" name="Shape 43"/>
          <p:cNvSpPr/>
          <p:nvPr/>
        </p:nvSpPr>
        <p:spPr>
          <a:xfrm>
            <a:off x="4645152" y="1243584"/>
            <a:ext cx="2066544" cy="310896"/>
          </a:xfrm>
          <a:prstGeom prst="rect">
            <a:avLst/>
          </a:prstGeom>
          <a:solidFill>
            <a:srgbClr val="F4F7FB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09160" y="128016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seq2seq Transformer</a:t>
            </a:r>
            <a:endParaRPr lang="en-US" sz="920"/>
          </a:p>
        </p:txBody>
      </p:sp>
      <p:sp>
        <p:nvSpPr>
          <p:cNvPr id="47" name="Shape 45"/>
          <p:cNvSpPr/>
          <p:nvPr/>
        </p:nvSpPr>
        <p:spPr>
          <a:xfrm>
            <a:off x="4645152" y="1554480"/>
            <a:ext cx="2066544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736592" y="1700784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974336" y="1664208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680,000 hrs weakly-supervised multilingual</a:t>
            </a:r>
            <a:endParaRPr lang="en-US" sz="950"/>
          </a:p>
        </p:txBody>
      </p:sp>
      <p:sp>
        <p:nvSpPr>
          <p:cNvPr id="50" name="Shape 48"/>
          <p:cNvSpPr/>
          <p:nvPr/>
        </p:nvSpPr>
        <p:spPr>
          <a:xfrm>
            <a:off x="4736592" y="228600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974336" y="224942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80-ch log-Mel spectrogram (30-s windows)</a:t>
            </a:r>
            <a:endParaRPr lang="en-US" sz="950"/>
          </a:p>
        </p:txBody>
      </p:sp>
      <p:sp>
        <p:nvSpPr>
          <p:cNvPr id="52" name="Shape 50"/>
          <p:cNvSpPr/>
          <p:nvPr/>
        </p:nvSpPr>
        <p:spPr>
          <a:xfrm>
            <a:off x="4736592" y="2871216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974336" y="2834640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decoder as implicit LM</a:t>
            </a:r>
            <a:endParaRPr lang="en-US" sz="950"/>
          </a:p>
        </p:txBody>
      </p:sp>
      <p:sp>
        <p:nvSpPr>
          <p:cNvPr id="54" name="Shape 52"/>
          <p:cNvSpPr/>
          <p:nvPr/>
        </p:nvSpPr>
        <p:spPr>
          <a:xfrm>
            <a:off x="4736592" y="345643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974336" y="3419856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BPE tokenisation</a:t>
            </a:r>
            <a:endParaRPr lang="en-US" sz="950"/>
          </a:p>
        </p:txBody>
      </p:sp>
      <p:sp>
        <p:nvSpPr>
          <p:cNvPr id="56" name="Shape 54"/>
          <p:cNvSpPr/>
          <p:nvPr/>
        </p:nvSpPr>
        <p:spPr>
          <a:xfrm>
            <a:off x="4736592" y="404164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974336" y="400507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WER=9%, CER=3%</a:t>
            </a:r>
            <a:endParaRPr lang="en-US" sz="950"/>
          </a:p>
        </p:txBody>
      </p:sp>
      <p:sp>
        <p:nvSpPr>
          <p:cNvPr id="58" name="Shape 56"/>
          <p:cNvSpPr/>
          <p:nvPr/>
        </p:nvSpPr>
        <p:spPr>
          <a:xfrm>
            <a:off x="6839712" y="914400"/>
            <a:ext cx="2066544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839712" y="914400"/>
            <a:ext cx="1591056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QuartzNet 5×5</a:t>
            </a:r>
            <a:endParaRPr lang="en-US" sz="1100"/>
          </a:p>
        </p:txBody>
      </p:sp>
      <p:sp>
        <p:nvSpPr>
          <p:cNvPr id="60" name="Shape 58"/>
          <p:cNvSpPr/>
          <p:nvPr/>
        </p:nvSpPr>
        <p:spPr>
          <a:xfrm>
            <a:off x="8430768" y="914400"/>
            <a:ext cx="475488" cy="329184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430768" y="91440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6.7M</a:t>
            </a:r>
            <a:endParaRPr lang="en-US" sz="900"/>
          </a:p>
        </p:txBody>
      </p:sp>
      <p:sp>
        <p:nvSpPr>
          <p:cNvPr id="62" name="Shape 60"/>
          <p:cNvSpPr/>
          <p:nvPr/>
        </p:nvSpPr>
        <p:spPr>
          <a:xfrm>
            <a:off x="6839712" y="1243584"/>
            <a:ext cx="2066544" cy="310896"/>
          </a:xfrm>
          <a:prstGeom prst="rect">
            <a:avLst/>
          </a:prstGeom>
          <a:solidFill>
            <a:srgbClr val="F4F7FB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903720" y="128016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time-channel separable CNN</a:t>
            </a:r>
            <a:endParaRPr lang="en-US" sz="920"/>
          </a:p>
        </p:txBody>
      </p:sp>
      <p:sp>
        <p:nvSpPr>
          <p:cNvPr id="64" name="Shape 62"/>
          <p:cNvSpPr/>
          <p:nvPr/>
        </p:nvSpPr>
        <p:spPr>
          <a:xfrm>
            <a:off x="6839712" y="1554480"/>
            <a:ext cx="2066544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931152" y="1700784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168896" y="1664208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blocks × 5 sub-layers</a:t>
            </a:r>
            <a:endParaRPr lang="en-US" sz="950"/>
          </a:p>
        </p:txBody>
      </p:sp>
      <p:sp>
        <p:nvSpPr>
          <p:cNvPr id="67" name="Shape 65"/>
          <p:cNvSpPr/>
          <p:nvPr/>
        </p:nvSpPr>
        <p:spPr>
          <a:xfrm>
            <a:off x="6931152" y="228600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168896" y="224942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 1D convolutions (no attention)</a:t>
            </a:r>
            <a:endParaRPr lang="en-US" sz="950"/>
          </a:p>
        </p:txBody>
      </p:sp>
      <p:sp>
        <p:nvSpPr>
          <p:cNvPr id="69" name="Shape 67"/>
          <p:cNvSpPr/>
          <p:nvPr/>
        </p:nvSpPr>
        <p:spPr>
          <a:xfrm>
            <a:off x="6931152" y="2871216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168896" y="2834640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decoding — no LM</a:t>
            </a:r>
            <a:endParaRPr lang="en-US" sz="950"/>
          </a:p>
        </p:txBody>
      </p:sp>
      <p:sp>
        <p:nvSpPr>
          <p:cNvPr id="71" name="Shape 69"/>
          <p:cNvSpPr/>
          <p:nvPr/>
        </p:nvSpPr>
        <p:spPr>
          <a:xfrm>
            <a:off x="6931152" y="3456432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168896" y="3419856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36× smaller than XLS-R</a:t>
            </a:r>
            <a:endParaRPr lang="en-US" sz="950"/>
          </a:p>
        </p:txBody>
      </p:sp>
      <p:sp>
        <p:nvSpPr>
          <p:cNvPr id="73" name="Shape 71"/>
          <p:cNvSpPr/>
          <p:nvPr/>
        </p:nvSpPr>
        <p:spPr>
          <a:xfrm>
            <a:off x="6931152" y="404164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168896" y="400507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training under P100 constraints</a:t>
            </a:r>
            <a:endParaRPr lang="en-US" sz="950"/>
          </a:p>
        </p:txBody>
      </p:sp>
      <p:sp>
        <p:nvSpPr>
          <p:cNvPr id="75" name="Text 73"/>
          <p:cNvSpPr/>
          <p:nvPr/>
        </p:nvSpPr>
        <p:spPr>
          <a:xfrm>
            <a:off x="237744" y="4846320"/>
            <a:ext cx="8631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evaluated on: Common Voice en-AU test split (target) and LibriSpeech test-clean (source retention)</a:t>
            </a:r>
            <a:endParaRPr lang="en-US" sz="9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— Full Fine-Tuning Baseline Protocol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Single-domain and two-stage cross-domain training regimes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90935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4279392" cy="2926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93268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 1: Single-Domain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56032" y="1280160"/>
            <a:ext cx="42793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280160"/>
            <a:ext cx="4279392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134416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Split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347472" y="154533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Voice en-AU: 80% train / 10% val / 10% test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256032" y="1892808"/>
            <a:ext cx="42793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1892808"/>
            <a:ext cx="4279392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1956816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Target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347472" y="2157984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in-domain WER on Australian-accented speech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256032" y="2505456"/>
            <a:ext cx="42793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2505456"/>
            <a:ext cx="4279392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" y="2569464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 Trained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347472" y="27706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Conformer-CTC (scratch), QuartzNet 5×5, XLS-R 300M, NeMo Conformer-CTC-Small, Whisper-Small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256032" y="3118104"/>
            <a:ext cx="42793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3118104"/>
            <a:ext cx="4279392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318211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Augmentation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347472" y="338328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SpecAugment (time &amp; frequency masking) + additive waveform noise for Conformer-CTC scratch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256032" y="3730752"/>
            <a:ext cx="42793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" y="3730752"/>
            <a:ext cx="4279392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3794760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347472" y="3995928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in-domain optimisation — best single-domain accuracy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256032" y="4343400"/>
            <a:ext cx="42793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6032" y="4343400"/>
            <a:ext cx="4279392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472" y="440740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Weakness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347472" y="460857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cross-domain generalisation; no source-domain retention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4681728" y="932688"/>
            <a:ext cx="4279392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81728" y="93268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 2: Two-Stage Cross-Domain</a:t>
            </a:r>
            <a:endParaRPr lang="en-US" sz="1200"/>
          </a:p>
        </p:txBody>
      </p:sp>
      <p:sp>
        <p:nvSpPr>
          <p:cNvPr id="35" name="Shape 33"/>
          <p:cNvSpPr/>
          <p:nvPr/>
        </p:nvSpPr>
        <p:spPr>
          <a:xfrm>
            <a:off x="4681728" y="1280160"/>
            <a:ext cx="42793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81728" y="1280160"/>
            <a:ext cx="427939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73168" y="134416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A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4773168" y="154533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LibriSpeech train-clean-360 | η=1×10⁻⁵ | 2 epochs | AdamW | cosine LR | FP16 | batch=16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4681728" y="1892808"/>
            <a:ext cx="42793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81728" y="1892808"/>
            <a:ext cx="427939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73168" y="1956816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A Goal</a:t>
            </a:r>
            <a:endParaRPr lang="en-US" sz="1000"/>
          </a:p>
        </p:txBody>
      </p:sp>
      <p:sp>
        <p:nvSpPr>
          <p:cNvPr id="42" name="Text 40"/>
          <p:cNvSpPr/>
          <p:nvPr/>
        </p:nvSpPr>
        <p:spPr>
          <a:xfrm>
            <a:off x="4773168" y="2157984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general English acoustic representations on clean read speech</a:t>
            </a:r>
            <a:endParaRPr lang="en-US" sz="950"/>
          </a:p>
        </p:txBody>
      </p:sp>
      <p:sp>
        <p:nvSpPr>
          <p:cNvPr id="43" name="Shape 41"/>
          <p:cNvSpPr/>
          <p:nvPr/>
        </p:nvSpPr>
        <p:spPr>
          <a:xfrm>
            <a:off x="4681728" y="2505456"/>
            <a:ext cx="42793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681728" y="2505456"/>
            <a:ext cx="427939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73168" y="2569464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B</a:t>
            </a:r>
            <a:endParaRPr lang="en-US" sz="1000"/>
          </a:p>
        </p:txBody>
      </p:sp>
      <p:sp>
        <p:nvSpPr>
          <p:cNvPr id="46" name="Text 44"/>
          <p:cNvSpPr/>
          <p:nvPr/>
        </p:nvSpPr>
        <p:spPr>
          <a:xfrm>
            <a:off x="4773168" y="27706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 Common Voice en-AU utterances | η=5×10⁻⁶ | 3 epochs | early stop (patience=3)</a:t>
            </a:r>
            <a:endParaRPr lang="en-US" sz="950"/>
          </a:p>
        </p:txBody>
      </p:sp>
      <p:sp>
        <p:nvSpPr>
          <p:cNvPr id="47" name="Shape 45"/>
          <p:cNvSpPr/>
          <p:nvPr/>
        </p:nvSpPr>
        <p:spPr>
          <a:xfrm>
            <a:off x="4681728" y="3118104"/>
            <a:ext cx="42793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681728" y="3118104"/>
            <a:ext cx="427939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73168" y="318211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B Goal</a:t>
            </a:r>
            <a:endParaRPr lang="en-US" sz="1000"/>
          </a:p>
        </p:txBody>
      </p:sp>
      <p:sp>
        <p:nvSpPr>
          <p:cNvPr id="50" name="Text 48"/>
          <p:cNvSpPr/>
          <p:nvPr/>
        </p:nvSpPr>
        <p:spPr>
          <a:xfrm>
            <a:off x="4773168" y="338328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adaptation while minimising catastrophic forgetting of source domain</a:t>
            </a:r>
            <a:endParaRPr lang="en-US" sz="950"/>
          </a:p>
        </p:txBody>
      </p:sp>
      <p:sp>
        <p:nvSpPr>
          <p:cNvPr id="51" name="Shape 49"/>
          <p:cNvSpPr/>
          <p:nvPr/>
        </p:nvSpPr>
        <p:spPr>
          <a:xfrm>
            <a:off x="4681728" y="3730752"/>
            <a:ext cx="42793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681728" y="3730752"/>
            <a:ext cx="427939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73168" y="3794760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Evaluated On</a:t>
            </a:r>
            <a:endParaRPr lang="en-US" sz="1000"/>
          </a:p>
        </p:txBody>
      </p:sp>
      <p:sp>
        <p:nvSpPr>
          <p:cNvPr id="54" name="Text 52"/>
          <p:cNvSpPr/>
          <p:nvPr/>
        </p:nvSpPr>
        <p:spPr>
          <a:xfrm>
            <a:off x="4773168" y="3995928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LibriSpeech test-clean (source retention) AND Common Voice test (target accuracy)</a:t>
            </a:r>
            <a:endParaRPr lang="en-US" sz="950"/>
          </a:p>
        </p:txBody>
      </p:sp>
      <p:sp>
        <p:nvSpPr>
          <p:cNvPr id="55" name="Shape 53"/>
          <p:cNvSpPr/>
          <p:nvPr/>
        </p:nvSpPr>
        <p:spPr>
          <a:xfrm>
            <a:off x="4681728" y="4343400"/>
            <a:ext cx="42793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681728" y="4343400"/>
            <a:ext cx="427939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73168" y="440740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</a:t>
            </a:r>
            <a:endParaRPr lang="en-US" sz="1000"/>
          </a:p>
        </p:txBody>
      </p:sp>
      <p:sp>
        <p:nvSpPr>
          <p:cNvPr id="58" name="Text 56"/>
          <p:cNvSpPr/>
          <p:nvPr/>
        </p:nvSpPr>
        <p:spPr>
          <a:xfrm>
            <a:off x="4773168" y="460857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ΔSource WER (catastrophic forgetting) vs ΔTarget WER (adaptation gain)</a:t>
            </a:r>
            <a:endParaRPr lang="en-US" sz="950"/>
          </a:p>
        </p:txBody>
      </p:sp>
      <p:sp>
        <p:nvSpPr>
          <p:cNvPr id="59" name="Shape 57"/>
          <p:cNvSpPr/>
          <p:nvPr/>
        </p:nvSpPr>
        <p:spPr>
          <a:xfrm>
            <a:off x="256032" y="4855464"/>
            <a:ext cx="8063509" cy="219456"/>
          </a:xfrm>
          <a:prstGeom prst="rect">
            <a:avLst/>
          </a:prstGeom>
          <a:solidFill>
            <a:srgbClr val="F4F7FB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65760" y="4857937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metric: WER (Word Error Rate) and CER (Character Error Rate) computed with JiWER after text normalisation (lowercase, punctuation removed)</a:t>
            </a:r>
            <a:endParaRPr lang="en-US" sz="88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— LoRA-PEFT Configuration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adaptation applied to Whisper-Small attention layers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8631936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969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LoRA Formula: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2286000" y="100584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= W₀ + (α / r) · B A     where   B ∈ ℝᵈˣʳ,   A ∈ ℝʳˣᵏ,   rank r &lt;&lt; min(d, k)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256032" y="1664208"/>
            <a:ext cx="47548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16642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Hyperparameter Configuration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256032" y="1975104"/>
            <a:ext cx="1005840" cy="3657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" y="19751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(r)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1261872" y="1975104"/>
            <a:ext cx="87782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61872" y="1975104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2139696" y="1975104"/>
            <a:ext cx="2871216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31136" y="197510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capacity of low-rank update; r=8 balances accuracy vs parameters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256032" y="2359152"/>
            <a:ext cx="1005840" cy="3657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" y="23591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(α)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1261872" y="2359152"/>
            <a:ext cx="87782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61872" y="2359152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2139696" y="2359152"/>
            <a:ext cx="2871216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31136" y="2359152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α/r=2 scaling factor applied to BA before adding to W₀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256032" y="2743200"/>
            <a:ext cx="1005840" cy="3657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6032" y="2743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Dropout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1261872" y="2743200"/>
            <a:ext cx="87782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61872" y="274320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2139696" y="2743200"/>
            <a:ext cx="2871216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31136" y="274320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applied to LoRA layers during training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256032" y="3127248"/>
            <a:ext cx="1005840" cy="3657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6032" y="31272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Layers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1261872" y="3127248"/>
            <a:ext cx="87782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261872" y="3127248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q/k/v/out_proj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2139696" y="3127248"/>
            <a:ext cx="2871216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231136" y="312724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attention projection layers in each Whisper encoder/decoder block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256032" y="3511296"/>
            <a:ext cx="1005840" cy="3657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56032" y="35112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Params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1261872" y="3511296"/>
            <a:ext cx="87782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261872" y="3511296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4.7M / 244M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2139696" y="3511296"/>
            <a:ext cx="2871216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231136" y="3511296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 parameter reduction from full fine-tuning</a:t>
            </a:r>
            <a:endParaRPr lang="en-US" sz="900"/>
          </a:p>
        </p:txBody>
      </p:sp>
      <p:sp>
        <p:nvSpPr>
          <p:cNvPr id="42" name="Shape 40"/>
          <p:cNvSpPr/>
          <p:nvPr/>
        </p:nvSpPr>
        <p:spPr>
          <a:xfrm>
            <a:off x="256032" y="3895344"/>
            <a:ext cx="1005840" cy="3657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56032" y="38953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1261872" y="3895344"/>
            <a:ext cx="87782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261872" y="3895344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AdamW</a:t>
            </a:r>
            <a:endParaRPr lang="en-US" sz="1000"/>
          </a:p>
        </p:txBody>
      </p:sp>
      <p:sp>
        <p:nvSpPr>
          <p:cNvPr id="46" name="Shape 44"/>
          <p:cNvSpPr/>
          <p:nvPr/>
        </p:nvSpPr>
        <p:spPr>
          <a:xfrm>
            <a:off x="2139696" y="3895344"/>
            <a:ext cx="2871216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231136" y="389534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BitsAndBytes quantized optimizer — ~75% memory vs FP32 Adam</a:t>
            </a:r>
            <a:endParaRPr lang="en-US" sz="900"/>
          </a:p>
        </p:txBody>
      </p:sp>
      <p:sp>
        <p:nvSpPr>
          <p:cNvPr id="48" name="Shape 46"/>
          <p:cNvSpPr/>
          <p:nvPr/>
        </p:nvSpPr>
        <p:spPr>
          <a:xfrm>
            <a:off x="256032" y="4279392"/>
            <a:ext cx="1005840" cy="3657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56032" y="42793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1261872" y="4279392"/>
            <a:ext cx="87782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261872" y="4279392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P100 16 GB</a:t>
            </a:r>
            <a:endParaRPr lang="en-US" sz="1000"/>
          </a:p>
        </p:txBody>
      </p:sp>
      <p:sp>
        <p:nvSpPr>
          <p:cNvPr id="52" name="Shape 50"/>
          <p:cNvSpPr/>
          <p:nvPr/>
        </p:nvSpPr>
        <p:spPr>
          <a:xfrm>
            <a:off x="2139696" y="4279392"/>
            <a:ext cx="2871216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231136" y="4279392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single-GPU training on Kaggle free tier (12h session)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5193792" y="1664208"/>
            <a:ext cx="363931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193792" y="166420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Pipeline Enhancements</a:t>
            </a:r>
            <a:endParaRPr lang="en-US" sz="1150"/>
          </a:p>
        </p:txBody>
      </p:sp>
      <p:sp>
        <p:nvSpPr>
          <p:cNvPr id="56" name="Shape 54"/>
          <p:cNvSpPr/>
          <p:nvPr/>
        </p:nvSpPr>
        <p:spPr>
          <a:xfrm>
            <a:off x="5193792" y="1975104"/>
            <a:ext cx="3639312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193792" y="1975104"/>
            <a:ext cx="3639312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193792" y="1975104"/>
            <a:ext cx="329184" cy="9692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193792" y="1975104"/>
            <a:ext cx="3291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/>
          </a:p>
        </p:txBody>
      </p:sp>
      <p:sp>
        <p:nvSpPr>
          <p:cNvPr id="60" name="Text 58"/>
          <p:cNvSpPr/>
          <p:nvPr/>
        </p:nvSpPr>
        <p:spPr>
          <a:xfrm>
            <a:off x="5577840" y="20482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Confidence-Based Denoising</a:t>
            </a:r>
            <a:endParaRPr lang="en-US" sz="1050"/>
          </a:p>
        </p:txBody>
      </p:sp>
      <p:sp>
        <p:nvSpPr>
          <p:cNvPr id="61" name="Text 59"/>
          <p:cNvSpPr/>
          <p:nvPr/>
        </p:nvSpPr>
        <p:spPr>
          <a:xfrm>
            <a:off x="5577840" y="230428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highest-loss Common Voice examples (~200 samples) removed before Stage B. Statistically significant improvement: p &lt; 0.001 (100 bootstrap samples). Removes noisy or misaligned reference transcripts from training.</a:t>
            </a:r>
            <a:endParaRPr lang="en-US" sz="920"/>
          </a:p>
        </p:txBody>
      </p:sp>
      <p:sp>
        <p:nvSpPr>
          <p:cNvPr id="62" name="Shape 60"/>
          <p:cNvSpPr/>
          <p:nvPr/>
        </p:nvSpPr>
        <p:spPr>
          <a:xfrm>
            <a:off x="5193792" y="2999232"/>
            <a:ext cx="3639312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193792" y="2999232"/>
            <a:ext cx="3639312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193792" y="2999232"/>
            <a:ext cx="329184" cy="9692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193792" y="2999232"/>
            <a:ext cx="3291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/>
          </a:p>
        </p:txBody>
      </p:sp>
      <p:sp>
        <p:nvSpPr>
          <p:cNvPr id="66" name="Text 64"/>
          <p:cNvSpPr/>
          <p:nvPr/>
        </p:nvSpPr>
        <p:spPr>
          <a:xfrm>
            <a:off x="5577840" y="30723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SpecAugment</a:t>
            </a:r>
            <a:endParaRPr lang="en-US" sz="1050"/>
          </a:p>
        </p:txBody>
      </p:sp>
      <p:sp>
        <p:nvSpPr>
          <p:cNvPr id="67" name="Text 65"/>
          <p:cNvSpPr/>
          <p:nvPr/>
        </p:nvSpPr>
        <p:spPr>
          <a:xfrm>
            <a:off x="5577840" y="332841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masking (T=40 frames) and frequency masking (F=80 channels) applied at p=0.5. Forces model to learn robust representations beyond surface-level patterns. Standard augmentation for end-to-end ASR systems.</a:t>
            </a:r>
            <a:endParaRPr lang="en-US" sz="920"/>
          </a:p>
        </p:txBody>
      </p:sp>
      <p:sp>
        <p:nvSpPr>
          <p:cNvPr id="68" name="Shape 66"/>
          <p:cNvSpPr/>
          <p:nvPr/>
        </p:nvSpPr>
        <p:spPr>
          <a:xfrm>
            <a:off x="5193792" y="4023360"/>
            <a:ext cx="3639312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5193792" y="4023360"/>
            <a:ext cx="3639312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193792" y="4023360"/>
            <a:ext cx="329184" cy="9692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193792" y="4023360"/>
            <a:ext cx="3291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/>
          </a:p>
        </p:txBody>
      </p:sp>
      <p:sp>
        <p:nvSpPr>
          <p:cNvPr id="72" name="Text 70"/>
          <p:cNvSpPr/>
          <p:nvPr/>
        </p:nvSpPr>
        <p:spPr>
          <a:xfrm>
            <a:off x="5577840" y="40965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Decode-Time Grid Search</a:t>
            </a:r>
            <a:endParaRPr lang="en-US" sz="1050"/>
          </a:p>
        </p:txBody>
      </p:sp>
      <p:sp>
        <p:nvSpPr>
          <p:cNvPr id="73" name="Text 71"/>
          <p:cNvSpPr/>
          <p:nvPr/>
        </p:nvSpPr>
        <p:spPr>
          <a:xfrm>
            <a:off x="5577840" y="435254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width ∈ {3,5,10} × length penalty ∈ {0.0,0.5,1.0} × repetition penalty ∈ {1.0,1.2}. Yields 1–2% absolute WER improvement at zero additional training cost. Best config applied at inference.</a:t>
            </a:r>
            <a:endParaRPr lang="en-US" sz="92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— Omnilingual PEFT Extension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LoRA adapter for 7 typologically diverse languages on FLEURS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8631936" cy="329184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950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Can a single LoRA adapter simultaneously transcribe 7 typologically diverse languages from one Whisper-Small checkpoint?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11704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133502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Hindi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256032" y="1591056"/>
            <a:ext cx="11704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608" y="160934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Devanagari</a:t>
            </a:r>
            <a:endParaRPr lang="en-US" sz="880"/>
          </a:p>
          <a:p>
            <a:pPr marL="0" indent="0" algn="ctr">
              <a:buNone/>
            </a:pPr>
            <a:r>
              <a:rPr lang="en-US" sz="88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Indo-Aryan</a:t>
            </a:r>
            <a:endParaRPr lang="en-US" sz="880"/>
          </a:p>
        </p:txBody>
      </p:sp>
      <p:sp>
        <p:nvSpPr>
          <p:cNvPr id="13" name="Shape 11"/>
          <p:cNvSpPr/>
          <p:nvPr/>
        </p:nvSpPr>
        <p:spPr>
          <a:xfrm>
            <a:off x="1517904" y="1335024"/>
            <a:ext cx="11704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17904" y="133502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Marathi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1517904" y="1591056"/>
            <a:ext cx="11704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54480" y="160934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Devanagari</a:t>
            </a:r>
            <a:endParaRPr lang="en-US" sz="880"/>
          </a:p>
          <a:p>
            <a:pPr marL="0" indent="0" algn="ctr">
              <a:buNone/>
            </a:pPr>
            <a:r>
              <a:rPr lang="en-US" sz="88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Indo-Aryan</a:t>
            </a:r>
            <a:endParaRPr lang="en-US" sz="880"/>
          </a:p>
        </p:txBody>
      </p:sp>
      <p:sp>
        <p:nvSpPr>
          <p:cNvPr id="17" name="Shape 15"/>
          <p:cNvSpPr/>
          <p:nvPr/>
        </p:nvSpPr>
        <p:spPr>
          <a:xfrm>
            <a:off x="2779776" y="1335024"/>
            <a:ext cx="117043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79776" y="133502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Bengali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2779776" y="1591056"/>
            <a:ext cx="11704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816352" y="160934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</a:t>
            </a:r>
            <a:endParaRPr lang="en-US" sz="880"/>
          </a:p>
          <a:p>
            <a:pPr marL="0" indent="0" algn="ctr">
              <a:buNone/>
            </a:pPr>
            <a:r>
              <a:rPr lang="en-US" sz="88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Indo-Aryan</a:t>
            </a:r>
            <a:endParaRPr lang="en-US" sz="880"/>
          </a:p>
        </p:txBody>
      </p:sp>
      <p:sp>
        <p:nvSpPr>
          <p:cNvPr id="21" name="Shape 19"/>
          <p:cNvSpPr/>
          <p:nvPr/>
        </p:nvSpPr>
        <p:spPr>
          <a:xfrm>
            <a:off x="4041648" y="1335024"/>
            <a:ext cx="117043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41648" y="133502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Urdu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4041648" y="1591056"/>
            <a:ext cx="11704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078224" y="160934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Nastaliq</a:t>
            </a:r>
            <a:endParaRPr lang="en-US" sz="880"/>
          </a:p>
          <a:p>
            <a:pPr marL="0" indent="0" algn="ctr">
              <a:buNone/>
            </a:pPr>
            <a:r>
              <a:rPr lang="en-US" sz="88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Indo-Aryan</a:t>
            </a:r>
            <a:endParaRPr lang="en-US" sz="880"/>
          </a:p>
        </p:txBody>
      </p:sp>
      <p:sp>
        <p:nvSpPr>
          <p:cNvPr id="25" name="Shape 23"/>
          <p:cNvSpPr/>
          <p:nvPr/>
        </p:nvSpPr>
        <p:spPr>
          <a:xfrm>
            <a:off x="5303520" y="1335024"/>
            <a:ext cx="1170432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0" y="133502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English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5303520" y="1591056"/>
            <a:ext cx="11704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40096" y="160934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</a:t>
            </a:r>
            <a:endParaRPr lang="en-US" sz="880"/>
          </a:p>
          <a:p>
            <a:pPr marL="0" indent="0" algn="ctr">
              <a:buNone/>
            </a:pPr>
            <a:r>
              <a:rPr lang="en-US" sz="88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Germanic</a:t>
            </a:r>
            <a:endParaRPr lang="en-US" sz="880"/>
          </a:p>
        </p:txBody>
      </p:sp>
      <p:sp>
        <p:nvSpPr>
          <p:cNvPr id="29" name="Shape 27"/>
          <p:cNvSpPr/>
          <p:nvPr/>
        </p:nvSpPr>
        <p:spPr>
          <a:xfrm>
            <a:off x="6565392" y="1335024"/>
            <a:ext cx="11704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65392" y="133502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French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6565392" y="1591056"/>
            <a:ext cx="11704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01968" y="160934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</a:t>
            </a:r>
            <a:endParaRPr lang="en-US" sz="880"/>
          </a:p>
          <a:p>
            <a:pPr marL="0" indent="0" algn="ctr">
              <a:buNone/>
            </a:pPr>
            <a:r>
              <a:rPr lang="en-US" sz="88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Romance</a:t>
            </a:r>
            <a:endParaRPr lang="en-US" sz="880"/>
          </a:p>
        </p:txBody>
      </p:sp>
      <p:sp>
        <p:nvSpPr>
          <p:cNvPr id="33" name="Shape 31"/>
          <p:cNvSpPr/>
          <p:nvPr/>
        </p:nvSpPr>
        <p:spPr>
          <a:xfrm>
            <a:off x="7827264" y="1335024"/>
            <a:ext cx="1170432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827264" y="133502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German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7827264" y="1591056"/>
            <a:ext cx="11704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863840" y="160934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</a:t>
            </a:r>
            <a:endParaRPr lang="en-US" sz="880"/>
          </a:p>
          <a:p>
            <a:pPr marL="0" indent="0" algn="ctr">
              <a:buNone/>
            </a:pPr>
            <a:r>
              <a:rPr lang="en-US" sz="88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Germanic</a:t>
            </a:r>
            <a:endParaRPr lang="en-US" sz="880"/>
          </a:p>
        </p:txBody>
      </p:sp>
      <p:sp>
        <p:nvSpPr>
          <p:cNvPr id="37" name="Shape 35"/>
          <p:cNvSpPr/>
          <p:nvPr/>
        </p:nvSpPr>
        <p:spPr>
          <a:xfrm>
            <a:off x="256032" y="2176272"/>
            <a:ext cx="411480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56032" y="2176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Adapter Configuration</a:t>
            </a:r>
            <a:endParaRPr lang="en-US" sz="1150"/>
          </a:p>
        </p:txBody>
      </p:sp>
      <p:sp>
        <p:nvSpPr>
          <p:cNvPr id="39" name="Shape 37"/>
          <p:cNvSpPr/>
          <p:nvPr/>
        </p:nvSpPr>
        <p:spPr>
          <a:xfrm>
            <a:off x="256032" y="2487168"/>
            <a:ext cx="1371600" cy="32918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56032" y="2487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/ Scaling</a:t>
            </a:r>
            <a:endParaRPr lang="en-US" sz="900"/>
          </a:p>
        </p:txBody>
      </p:sp>
      <p:sp>
        <p:nvSpPr>
          <p:cNvPr id="41" name="Shape 39"/>
          <p:cNvSpPr/>
          <p:nvPr/>
        </p:nvSpPr>
        <p:spPr>
          <a:xfrm>
            <a:off x="1627632" y="2487168"/>
            <a:ext cx="2743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700784" y="248716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r=64, α=128 (higher capacity for morphological richness)</a:t>
            </a:r>
            <a:endParaRPr lang="en-US" sz="920"/>
          </a:p>
        </p:txBody>
      </p:sp>
      <p:sp>
        <p:nvSpPr>
          <p:cNvPr id="43" name="Shape 41"/>
          <p:cNvSpPr/>
          <p:nvPr/>
        </p:nvSpPr>
        <p:spPr>
          <a:xfrm>
            <a:off x="256032" y="2834640"/>
            <a:ext cx="1371600" cy="32918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56032" y="2834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900"/>
          </a:p>
        </p:txBody>
      </p:sp>
      <p:sp>
        <p:nvSpPr>
          <p:cNvPr id="45" name="Shape 43"/>
          <p:cNvSpPr/>
          <p:nvPr/>
        </p:nvSpPr>
        <p:spPr>
          <a:xfrm>
            <a:off x="1627632" y="2834640"/>
            <a:ext cx="2743200" cy="329184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700784" y="283464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5-beam, no_repeat_ngram_size=3 (reduces hallucination)</a:t>
            </a:r>
            <a:endParaRPr lang="en-US" sz="920"/>
          </a:p>
        </p:txBody>
      </p:sp>
      <p:sp>
        <p:nvSpPr>
          <p:cNvPr id="47" name="Shape 45"/>
          <p:cNvSpPr/>
          <p:nvPr/>
        </p:nvSpPr>
        <p:spPr>
          <a:xfrm>
            <a:off x="256032" y="3182112"/>
            <a:ext cx="1371600" cy="32918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56032" y="31821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</a:t>
            </a:r>
            <a:endParaRPr lang="en-US" sz="900"/>
          </a:p>
        </p:txBody>
      </p:sp>
      <p:sp>
        <p:nvSpPr>
          <p:cNvPr id="49" name="Shape 47"/>
          <p:cNvSpPr/>
          <p:nvPr/>
        </p:nvSpPr>
        <p:spPr>
          <a:xfrm>
            <a:off x="1627632" y="3182112"/>
            <a:ext cx="2743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700784" y="318211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Script-aware: preserves diacritics, Devanagari, Bengali characters</a:t>
            </a:r>
            <a:endParaRPr lang="en-US" sz="920"/>
          </a:p>
        </p:txBody>
      </p:sp>
      <p:sp>
        <p:nvSpPr>
          <p:cNvPr id="51" name="Shape 49"/>
          <p:cNvSpPr/>
          <p:nvPr/>
        </p:nvSpPr>
        <p:spPr>
          <a:xfrm>
            <a:off x="256032" y="3529584"/>
            <a:ext cx="1371600" cy="32918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56032" y="35295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00"/>
          </a:p>
        </p:txBody>
      </p:sp>
      <p:sp>
        <p:nvSpPr>
          <p:cNvPr id="53" name="Shape 51"/>
          <p:cNvSpPr/>
          <p:nvPr/>
        </p:nvSpPr>
        <p:spPr>
          <a:xfrm>
            <a:off x="1627632" y="3529584"/>
            <a:ext cx="2743200" cy="329184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700784" y="3529584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M-series (MPS backend) + gradient checkpointing (−70% VRAM)</a:t>
            </a:r>
            <a:endParaRPr lang="en-US" sz="920"/>
          </a:p>
        </p:txBody>
      </p:sp>
      <p:sp>
        <p:nvSpPr>
          <p:cNvPr id="55" name="Shape 53"/>
          <p:cNvSpPr/>
          <p:nvPr/>
        </p:nvSpPr>
        <p:spPr>
          <a:xfrm>
            <a:off x="256032" y="3877056"/>
            <a:ext cx="1371600" cy="32918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56032" y="38770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/>
          </a:p>
        </p:txBody>
      </p:sp>
      <p:sp>
        <p:nvSpPr>
          <p:cNvPr id="57" name="Shape 55"/>
          <p:cNvSpPr/>
          <p:nvPr/>
        </p:nvSpPr>
        <p:spPr>
          <a:xfrm>
            <a:off x="1627632" y="3877056"/>
            <a:ext cx="2743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700784" y="3877056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 (MPS NaN stability) vs FP16 for cross-entropy training</a:t>
            </a:r>
            <a:endParaRPr lang="en-US" sz="920"/>
          </a:p>
        </p:txBody>
      </p:sp>
      <p:sp>
        <p:nvSpPr>
          <p:cNvPr id="59" name="Shape 57"/>
          <p:cNvSpPr/>
          <p:nvPr/>
        </p:nvSpPr>
        <p:spPr>
          <a:xfrm>
            <a:off x="256032" y="4224528"/>
            <a:ext cx="1371600" cy="32918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56032" y="42245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/>
          </a:p>
        </p:txBody>
      </p:sp>
      <p:sp>
        <p:nvSpPr>
          <p:cNvPr id="61" name="Shape 59"/>
          <p:cNvSpPr/>
          <p:nvPr/>
        </p:nvSpPr>
        <p:spPr>
          <a:xfrm>
            <a:off x="1627632" y="4224528"/>
            <a:ext cx="2743200" cy="329184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700784" y="422452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 2 × 8 accumulation steps = effective batch size 16</a:t>
            </a:r>
            <a:endParaRPr lang="en-US" sz="920"/>
          </a:p>
        </p:txBody>
      </p:sp>
      <p:sp>
        <p:nvSpPr>
          <p:cNvPr id="63" name="Shape 61"/>
          <p:cNvSpPr/>
          <p:nvPr/>
        </p:nvSpPr>
        <p:spPr>
          <a:xfrm>
            <a:off x="256032" y="4572000"/>
            <a:ext cx="1371600" cy="32918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56032" y="45720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900"/>
          </a:p>
        </p:txBody>
      </p:sp>
      <p:sp>
        <p:nvSpPr>
          <p:cNvPr id="65" name="Shape 63"/>
          <p:cNvSpPr/>
          <p:nvPr/>
        </p:nvSpPr>
        <p:spPr>
          <a:xfrm>
            <a:off x="1627632" y="4572000"/>
            <a:ext cx="2743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700784" y="457200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FLEURS — Few-shot Learning Evaluation of Universal Representations</a:t>
            </a:r>
            <a:endParaRPr lang="en-US" sz="920"/>
          </a:p>
        </p:txBody>
      </p:sp>
      <p:sp>
        <p:nvSpPr>
          <p:cNvPr id="67" name="Shape 65"/>
          <p:cNvSpPr/>
          <p:nvPr/>
        </p:nvSpPr>
        <p:spPr>
          <a:xfrm>
            <a:off x="4553712" y="2176272"/>
            <a:ext cx="4334256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553712" y="2176272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Outcomes</a:t>
            </a:r>
            <a:endParaRPr lang="en-US" sz="1150"/>
          </a:p>
        </p:txBody>
      </p:sp>
      <p:sp>
        <p:nvSpPr>
          <p:cNvPr id="69" name="Shape 67"/>
          <p:cNvSpPr/>
          <p:nvPr/>
        </p:nvSpPr>
        <p:spPr>
          <a:xfrm>
            <a:off x="4553712" y="2487168"/>
            <a:ext cx="4334256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553712" y="2487168"/>
            <a:ext cx="4334256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645152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Accuracy:</a:t>
            </a:r>
            <a:endParaRPr lang="en-US" sz="950"/>
          </a:p>
        </p:txBody>
      </p:sp>
      <p:sp>
        <p:nvSpPr>
          <p:cNvPr id="72" name="Text 70"/>
          <p:cNvSpPr/>
          <p:nvPr/>
        </p:nvSpPr>
        <p:spPr>
          <a:xfrm>
            <a:off x="4645152" y="2724912"/>
            <a:ext cx="4151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Sub-5% CER across all 7 languages — single adapter</a:t>
            </a:r>
            <a:endParaRPr lang="en-US" sz="920"/>
          </a:p>
        </p:txBody>
      </p:sp>
      <p:sp>
        <p:nvSpPr>
          <p:cNvPr id="73" name="Shape 71"/>
          <p:cNvSpPr/>
          <p:nvPr/>
        </p:nvSpPr>
        <p:spPr>
          <a:xfrm>
            <a:off x="4553712" y="2962656"/>
            <a:ext cx="4334256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553712" y="2962656"/>
            <a:ext cx="4334256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645152" y="3017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 Impact:</a:t>
            </a:r>
            <a:endParaRPr lang="en-US" sz="950"/>
          </a:p>
        </p:txBody>
      </p:sp>
      <p:sp>
        <p:nvSpPr>
          <p:cNvPr id="76" name="Text 74"/>
          <p:cNvSpPr/>
          <p:nvPr/>
        </p:nvSpPr>
        <p:spPr>
          <a:xfrm>
            <a:off x="4645152" y="3200400"/>
            <a:ext cx="4151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+ Bengali baseline WER = 81.21% — massive headroom</a:t>
            </a:r>
            <a:endParaRPr lang="en-US" sz="920"/>
          </a:p>
        </p:txBody>
      </p:sp>
      <p:sp>
        <p:nvSpPr>
          <p:cNvPr id="77" name="Shape 75"/>
          <p:cNvSpPr/>
          <p:nvPr/>
        </p:nvSpPr>
        <p:spPr>
          <a:xfrm>
            <a:off x="4553712" y="3438144"/>
            <a:ext cx="4334256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4553712" y="3438144"/>
            <a:ext cx="4334256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645152" y="3493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 Fusion:</a:t>
            </a:r>
            <a:endParaRPr lang="en-US" sz="950"/>
          </a:p>
        </p:txBody>
      </p:sp>
      <p:sp>
        <p:nvSpPr>
          <p:cNvPr id="80" name="Text 78"/>
          <p:cNvSpPr/>
          <p:nvPr/>
        </p:nvSpPr>
        <p:spPr>
          <a:xfrm>
            <a:off x="4645152" y="3675888"/>
            <a:ext cx="4151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merge_and_unload() removes adapter overhead at inference</a:t>
            </a:r>
            <a:endParaRPr lang="en-US" sz="920"/>
          </a:p>
        </p:txBody>
      </p:sp>
      <p:sp>
        <p:nvSpPr>
          <p:cNvPr id="81" name="Shape 79"/>
          <p:cNvSpPr/>
          <p:nvPr/>
        </p:nvSpPr>
        <p:spPr>
          <a:xfrm>
            <a:off x="4553712" y="3913632"/>
            <a:ext cx="4334256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4553712" y="3913632"/>
            <a:ext cx="4334256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645152" y="3968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European Baseline:</a:t>
            </a:r>
            <a:endParaRPr lang="en-US" sz="950"/>
          </a:p>
        </p:txBody>
      </p:sp>
      <p:sp>
        <p:nvSpPr>
          <p:cNvPr id="84" name="Text 82"/>
          <p:cNvSpPr/>
          <p:nvPr/>
        </p:nvSpPr>
        <p:spPr>
          <a:xfrm>
            <a:off x="4645152" y="4151376"/>
            <a:ext cx="4151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14.83%, French 11.49%, German 9.01% — smaller expected gains</a:t>
            </a:r>
            <a:endParaRPr lang="en-US" sz="920"/>
          </a:p>
        </p:txBody>
      </p:sp>
      <p:sp>
        <p:nvSpPr>
          <p:cNvPr id="85" name="Shape 83"/>
          <p:cNvSpPr/>
          <p:nvPr/>
        </p:nvSpPr>
        <p:spPr>
          <a:xfrm>
            <a:off x="4553712" y="4389120"/>
            <a:ext cx="4334256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4553712" y="4389120"/>
            <a:ext cx="4334256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645152" y="44439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Scientific Claim:</a:t>
            </a:r>
            <a:endParaRPr lang="en-US" sz="950"/>
          </a:p>
        </p:txBody>
      </p:sp>
      <p:sp>
        <p:nvSpPr>
          <p:cNvPr id="88" name="Text 86"/>
          <p:cNvSpPr/>
          <p:nvPr/>
        </p:nvSpPr>
        <p:spPr>
          <a:xfrm>
            <a:off x="4645152" y="4626864"/>
            <a:ext cx="4151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reported sub-5% CER omnilingual adapter covering Latin + Indic scripts</a:t>
            </a:r>
            <a:endParaRPr lang="en-US" sz="9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Setup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frameworks, hyperparameters &amp; evaluation protocol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2816352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932688"/>
            <a:ext cx="2816352" cy="502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932688"/>
            <a:ext cx="2816352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93268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329184" y="12618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NVIDIA Tesla P100 (16 GB VRAM, 12-hour Kaggle session limit)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329184" y="159105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Omnilingual extension: Apple M-series chip (MPS backend, gradient checkpointing)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329184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+ 8-bit AdamW → fits 244M Whisper on single 16 GB GPU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329184" y="22494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batch size 16 via gradient accumulation (steps 2/4/8)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3200400" y="932688"/>
            <a:ext cx="2816352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932688"/>
            <a:ext cx="2816352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0" y="932688"/>
            <a:ext cx="2816352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0" y="93268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Frameworks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3273552" y="12618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 [17] — unified ASR model APIs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3273552" y="159105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library — LoRA injection into Whisper attention layers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3273552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BitsAndBytes [15] — 8-bit optimizer &amp; quantized inference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3273552" y="22494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 — Conformer-CTC pretrained model &amp; training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3273552" y="25786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torchaudio — audio preprocessing &amp; from-scratch Conformer</a:t>
            </a:r>
            <a:endParaRPr lang="en-US" sz="950"/>
          </a:p>
        </p:txBody>
      </p:sp>
      <p:sp>
        <p:nvSpPr>
          <p:cNvPr id="24" name="Text 22"/>
          <p:cNvSpPr/>
          <p:nvPr/>
        </p:nvSpPr>
        <p:spPr>
          <a:xfrm>
            <a:off x="347472" y="257175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real-time inference application frontend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6144768" y="932688"/>
            <a:ext cx="2816352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44768" y="932688"/>
            <a:ext cx="281635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44768" y="932688"/>
            <a:ext cx="281635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44768" y="93268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Hyperparameter Search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6217920" y="12618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rates: {1×10⁻⁵, 5×10⁻⁶, 1×10⁻⁶}</a:t>
            </a:r>
            <a:endParaRPr lang="en-US" sz="950"/>
          </a:p>
        </p:txBody>
      </p:sp>
      <p:sp>
        <p:nvSpPr>
          <p:cNvPr id="30" name="Text 28"/>
          <p:cNvSpPr/>
          <p:nvPr/>
        </p:nvSpPr>
        <p:spPr>
          <a:xfrm>
            <a:off x="6217920" y="159105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accumulation steps: {2, 4, 8}</a:t>
            </a:r>
            <a:endParaRPr lang="en-US" sz="950"/>
          </a:p>
        </p:txBody>
      </p:sp>
      <p:sp>
        <p:nvSpPr>
          <p:cNvPr id="31" name="Text 29"/>
          <p:cNvSpPr/>
          <p:nvPr/>
        </p:nvSpPr>
        <p:spPr>
          <a:xfrm>
            <a:off x="6217920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epochs: {2, 3, 5}</a:t>
            </a:r>
            <a:endParaRPr lang="en-US" sz="950"/>
          </a:p>
        </p:txBody>
      </p:sp>
      <p:sp>
        <p:nvSpPr>
          <p:cNvPr id="32" name="Text 30"/>
          <p:cNvSpPr/>
          <p:nvPr/>
        </p:nvSpPr>
        <p:spPr>
          <a:xfrm>
            <a:off x="6217920" y="22494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 patience=3 on validation WER</a:t>
            </a:r>
            <a:endParaRPr lang="en-US" sz="950"/>
          </a:p>
        </p:txBody>
      </p:sp>
      <p:sp>
        <p:nvSpPr>
          <p:cNvPr id="33" name="Text 31"/>
          <p:cNvSpPr/>
          <p:nvPr/>
        </p:nvSpPr>
        <p:spPr>
          <a:xfrm>
            <a:off x="6217920" y="25786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grid: beam {3,5,10} × len-penalty {0.0,0.5,1.0}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256032" y="2999232"/>
            <a:ext cx="2816352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6032" y="2999232"/>
            <a:ext cx="2816352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56032" y="2999232"/>
            <a:ext cx="281635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56032" y="299923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329184" y="33284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resampled to 16 kHz (all models)</a:t>
            </a:r>
            <a:endParaRPr lang="en-US" sz="950"/>
          </a:p>
        </p:txBody>
      </p:sp>
      <p:sp>
        <p:nvSpPr>
          <p:cNvPr id="39" name="Text 37"/>
          <p:cNvSpPr/>
          <p:nvPr/>
        </p:nvSpPr>
        <p:spPr>
          <a:xfrm>
            <a:off x="329184" y="36576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&gt;30 s truncated (Whisper context limit + GPU OOM prevention)</a:t>
            </a:r>
            <a:endParaRPr lang="en-US" sz="950"/>
          </a:p>
        </p:txBody>
      </p:sp>
      <p:sp>
        <p:nvSpPr>
          <p:cNvPr id="40" name="Text 38"/>
          <p:cNvSpPr/>
          <p:nvPr/>
        </p:nvSpPr>
        <p:spPr>
          <a:xfrm>
            <a:off x="329184" y="398678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lowercase, NFKD unicode normalisation, punctuation removal</a:t>
            </a:r>
            <a:endParaRPr lang="en-US" sz="950"/>
          </a:p>
        </p:txBody>
      </p:sp>
      <p:sp>
        <p:nvSpPr>
          <p:cNvPr id="41" name="Text 39"/>
          <p:cNvSpPr/>
          <p:nvPr/>
        </p:nvSpPr>
        <p:spPr>
          <a:xfrm>
            <a:off x="329184" y="43159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splits: Common Voice 80/10/10 train/val/test (speaker-disjoint)</a:t>
            </a:r>
            <a:endParaRPr lang="en-US" sz="950"/>
          </a:p>
        </p:txBody>
      </p:sp>
      <p:sp>
        <p:nvSpPr>
          <p:cNvPr id="42" name="Text 40"/>
          <p:cNvSpPr/>
          <p:nvPr/>
        </p:nvSpPr>
        <p:spPr>
          <a:xfrm>
            <a:off x="329184" y="46451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denoising: top 10% highest-loss examples removed (~200 samples)</a:t>
            </a:r>
            <a:endParaRPr lang="en-US" sz="950"/>
          </a:p>
        </p:txBody>
      </p:sp>
      <p:sp>
        <p:nvSpPr>
          <p:cNvPr id="43" name="Shape 41"/>
          <p:cNvSpPr/>
          <p:nvPr/>
        </p:nvSpPr>
        <p:spPr>
          <a:xfrm>
            <a:off x="3200400" y="2999232"/>
            <a:ext cx="2816352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200400" y="2999232"/>
            <a:ext cx="2816352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200400" y="2999232"/>
            <a:ext cx="2816352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00400" y="299923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Metrics</a:t>
            </a:r>
            <a:endParaRPr lang="en-US" sz="1100"/>
          </a:p>
        </p:txBody>
      </p:sp>
      <p:sp>
        <p:nvSpPr>
          <p:cNvPr id="47" name="Text 45"/>
          <p:cNvSpPr/>
          <p:nvPr/>
        </p:nvSpPr>
        <p:spPr>
          <a:xfrm>
            <a:off x="3273552" y="33284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= (S+D+I)/N — word error rate (primary metric)</a:t>
            </a:r>
            <a:endParaRPr lang="en-US" sz="950"/>
          </a:p>
        </p:txBody>
      </p:sp>
      <p:sp>
        <p:nvSpPr>
          <p:cNvPr id="48" name="Text 46"/>
          <p:cNvSpPr/>
          <p:nvPr/>
        </p:nvSpPr>
        <p:spPr>
          <a:xfrm>
            <a:off x="3273552" y="36576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= (S+D+I)/N at character level (secondary metric)</a:t>
            </a:r>
            <a:endParaRPr lang="en-US" sz="950"/>
          </a:p>
        </p:txBody>
      </p:sp>
      <p:sp>
        <p:nvSpPr>
          <p:cNvPr id="49" name="Text 47"/>
          <p:cNvSpPr/>
          <p:nvPr/>
        </p:nvSpPr>
        <p:spPr>
          <a:xfrm>
            <a:off x="3273552" y="398678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JiWER library for fast WER/CER computation</a:t>
            </a:r>
            <a:endParaRPr lang="en-US" sz="950"/>
          </a:p>
        </p:txBody>
      </p:sp>
      <p:sp>
        <p:nvSpPr>
          <p:cNvPr id="50" name="Text 48"/>
          <p:cNvSpPr/>
          <p:nvPr/>
        </p:nvSpPr>
        <p:spPr>
          <a:xfrm>
            <a:off x="3273552" y="43159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significance: paired t-test, 100 bootstrap samples, p&lt;0.05</a:t>
            </a:r>
            <a:endParaRPr lang="en-US" sz="950"/>
          </a:p>
        </p:txBody>
      </p:sp>
      <p:sp>
        <p:nvSpPr>
          <p:cNvPr id="51" name="Text 49"/>
          <p:cNvSpPr/>
          <p:nvPr/>
        </p:nvSpPr>
        <p:spPr>
          <a:xfrm>
            <a:off x="3273552" y="46451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source retention: LibriSpeech test-clean WER post-adaptation</a:t>
            </a:r>
            <a:endParaRPr lang="en-US" sz="950"/>
          </a:p>
        </p:txBody>
      </p:sp>
      <p:sp>
        <p:nvSpPr>
          <p:cNvPr id="52" name="Shape 50"/>
          <p:cNvSpPr/>
          <p:nvPr/>
        </p:nvSpPr>
        <p:spPr>
          <a:xfrm>
            <a:off x="6144768" y="2999232"/>
            <a:ext cx="2816352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144768" y="2999232"/>
            <a:ext cx="2816352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144768" y="2999232"/>
            <a:ext cx="2816352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144768" y="299923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Splits</a:t>
            </a:r>
            <a:endParaRPr lang="en-US" sz="1100"/>
          </a:p>
        </p:txBody>
      </p:sp>
      <p:sp>
        <p:nvSpPr>
          <p:cNvPr id="56" name="Text 54"/>
          <p:cNvSpPr/>
          <p:nvPr/>
        </p:nvSpPr>
        <p:spPr>
          <a:xfrm>
            <a:off x="6217920" y="33284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LibriSpeech: train-clean-360 / dev-clean / test-clean</a:t>
            </a:r>
            <a:endParaRPr lang="en-US" sz="950"/>
          </a:p>
        </p:txBody>
      </p:sp>
      <p:sp>
        <p:nvSpPr>
          <p:cNvPr id="57" name="Text 55"/>
          <p:cNvSpPr/>
          <p:nvPr/>
        </p:nvSpPr>
        <p:spPr>
          <a:xfrm>
            <a:off x="6217920" y="36576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Voice v24 en-AU: speaker-disjoint train/val/test</a:t>
            </a:r>
            <a:endParaRPr lang="en-US" sz="950"/>
          </a:p>
        </p:txBody>
      </p:sp>
      <p:sp>
        <p:nvSpPr>
          <p:cNvPr id="58" name="Text 56"/>
          <p:cNvSpPr/>
          <p:nvPr/>
        </p:nvSpPr>
        <p:spPr>
          <a:xfrm>
            <a:off x="6217920" y="398678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Speaker-balanced sampling: ≤50 utterances per speaker in CV</a:t>
            </a:r>
            <a:endParaRPr lang="en-US" sz="950"/>
          </a:p>
        </p:txBody>
      </p:sp>
      <p:sp>
        <p:nvSpPr>
          <p:cNvPr id="59" name="Text 57"/>
          <p:cNvSpPr/>
          <p:nvPr/>
        </p:nvSpPr>
        <p:spPr>
          <a:xfrm>
            <a:off x="6217920" y="43159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overlapping speakers between train and test splits</a:t>
            </a:r>
            <a:endParaRPr lang="en-US" sz="950"/>
          </a:p>
        </p:txBody>
      </p:sp>
      <p:sp>
        <p:nvSpPr>
          <p:cNvPr id="60" name="Text 58"/>
          <p:cNvSpPr/>
          <p:nvPr/>
        </p:nvSpPr>
        <p:spPr>
          <a:xfrm>
            <a:off x="6217920" y="46451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Omnilingual: FLEURS test split for all 7 languages</a:t>
            </a:r>
            <a:endParaRPr lang="en-US" sz="9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Model Performance Comparison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and CER on Mozilla Common Voice en-AU test set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2834640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9326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3090672" y="932688"/>
            <a:ext cx="2926080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90672" y="932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Strategy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6016752" y="932688"/>
            <a:ext cx="804672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16752" y="93268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WER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6821424" y="932688"/>
            <a:ext cx="804672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21424" y="93268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7626096" y="932688"/>
            <a:ext cx="457200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26096" y="932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8083296" y="932688"/>
            <a:ext cx="1060704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83296" y="93268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256032" y="1207008"/>
            <a:ext cx="2834640" cy="320040"/>
          </a:xfrm>
          <a:prstGeom prst="rect">
            <a:avLst/>
          </a:prstGeom>
          <a:solidFill>
            <a:srgbClr val="FFEEEE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01752" y="1207008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Conformer-CTC (scratch)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090672" y="1207008"/>
            <a:ext cx="2926080" cy="320040"/>
          </a:xfrm>
          <a:prstGeom prst="rect">
            <a:avLst/>
          </a:prstGeom>
          <a:solidFill>
            <a:srgbClr val="FFEEEE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36392" y="120700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&amp; tested on Common Voice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6016752" y="1207008"/>
            <a:ext cx="804672" cy="320040"/>
          </a:xfrm>
          <a:prstGeom prst="rect">
            <a:avLst/>
          </a:prstGeom>
          <a:solidFill>
            <a:srgbClr val="FFEEEE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62472" y="12070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6821424" y="1207008"/>
            <a:ext cx="804672" cy="320040"/>
          </a:xfrm>
          <a:prstGeom prst="rect">
            <a:avLst/>
          </a:prstGeom>
          <a:solidFill>
            <a:srgbClr val="FFEEEE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67144" y="12070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7626096" y="1207008"/>
            <a:ext cx="457200" cy="320040"/>
          </a:xfrm>
          <a:prstGeom prst="rect">
            <a:avLst/>
          </a:prstGeom>
          <a:solidFill>
            <a:srgbClr val="FFEEEE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671816" y="120700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29" name="Shape 27"/>
          <p:cNvSpPr/>
          <p:nvPr/>
        </p:nvSpPr>
        <p:spPr>
          <a:xfrm>
            <a:off x="8083296" y="1207008"/>
            <a:ext cx="1060704" cy="320040"/>
          </a:xfrm>
          <a:prstGeom prst="rect">
            <a:avLst/>
          </a:prstGeom>
          <a:solidFill>
            <a:srgbClr val="FFEEEE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129016" y="120700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256032" y="1536192"/>
            <a:ext cx="2834640" cy="320040"/>
          </a:xfrm>
          <a:prstGeom prst="rect">
            <a:avLst/>
          </a:prstGeom>
          <a:solidFill>
            <a:srgbClr val="FFF8E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1752" y="1536192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QuartzNet 5×5 (scratch)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3090672" y="1536192"/>
            <a:ext cx="2926080" cy="320040"/>
          </a:xfrm>
          <a:prstGeom prst="rect">
            <a:avLst/>
          </a:prstGeom>
          <a:solidFill>
            <a:srgbClr val="FFF8E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136392" y="1536192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trained, tested on Common Voice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6016752" y="1536192"/>
            <a:ext cx="804672" cy="320040"/>
          </a:xfrm>
          <a:prstGeom prst="rect">
            <a:avLst/>
          </a:prstGeom>
          <a:solidFill>
            <a:srgbClr val="FFF8E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062472" y="15361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6821424" y="1536192"/>
            <a:ext cx="804672" cy="320040"/>
          </a:xfrm>
          <a:prstGeom prst="rect">
            <a:avLst/>
          </a:prstGeom>
          <a:solidFill>
            <a:srgbClr val="FFF8E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67144" y="15361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7626096" y="1536192"/>
            <a:ext cx="457200" cy="320040"/>
          </a:xfrm>
          <a:prstGeom prst="rect">
            <a:avLst/>
          </a:prstGeom>
          <a:solidFill>
            <a:srgbClr val="FFF8E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671816" y="153619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41" name="Shape 39"/>
          <p:cNvSpPr/>
          <p:nvPr/>
        </p:nvSpPr>
        <p:spPr>
          <a:xfrm>
            <a:off x="8083296" y="1536192"/>
            <a:ext cx="1060704" cy="320040"/>
          </a:xfrm>
          <a:prstGeom prst="rect">
            <a:avLst/>
          </a:prstGeom>
          <a:solidFill>
            <a:srgbClr val="FFF8E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129016" y="1536192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256032" y="1865376"/>
            <a:ext cx="2834640" cy="320040"/>
          </a:xfrm>
          <a:prstGeom prst="rect">
            <a:avLst/>
          </a:prstGeom>
          <a:solidFill>
            <a:srgbClr val="F0F8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01752" y="1865376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wav2vec2-conformer-large</a:t>
            </a:r>
            <a:endParaRPr lang="en-US" sz="1000"/>
          </a:p>
        </p:txBody>
      </p:sp>
      <p:sp>
        <p:nvSpPr>
          <p:cNvPr id="45" name="Shape 43"/>
          <p:cNvSpPr/>
          <p:nvPr/>
        </p:nvSpPr>
        <p:spPr>
          <a:xfrm>
            <a:off x="3090672" y="1865376"/>
            <a:ext cx="2926080" cy="320040"/>
          </a:xfrm>
          <a:prstGeom prst="rect">
            <a:avLst/>
          </a:prstGeom>
          <a:solidFill>
            <a:srgbClr val="F0F8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136392" y="1865376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pretrained, zero-shot on CV</a:t>
            </a:r>
            <a:endParaRPr lang="en-US" sz="1000"/>
          </a:p>
        </p:txBody>
      </p:sp>
      <p:sp>
        <p:nvSpPr>
          <p:cNvPr id="47" name="Shape 45"/>
          <p:cNvSpPr/>
          <p:nvPr/>
        </p:nvSpPr>
        <p:spPr>
          <a:xfrm>
            <a:off x="6016752" y="1865376"/>
            <a:ext cx="804672" cy="320040"/>
          </a:xfrm>
          <a:prstGeom prst="rect">
            <a:avLst/>
          </a:prstGeom>
          <a:solidFill>
            <a:srgbClr val="F0F8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062472" y="186537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</a:t>
            </a:r>
            <a:endParaRPr lang="en-US" sz="1000"/>
          </a:p>
        </p:txBody>
      </p:sp>
      <p:sp>
        <p:nvSpPr>
          <p:cNvPr id="49" name="Shape 47"/>
          <p:cNvSpPr/>
          <p:nvPr/>
        </p:nvSpPr>
        <p:spPr>
          <a:xfrm>
            <a:off x="6821424" y="1865376"/>
            <a:ext cx="804672" cy="320040"/>
          </a:xfrm>
          <a:prstGeom prst="rect">
            <a:avLst/>
          </a:prstGeom>
          <a:solidFill>
            <a:srgbClr val="F0F8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867144" y="186537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000"/>
          </a:p>
        </p:txBody>
      </p:sp>
      <p:sp>
        <p:nvSpPr>
          <p:cNvPr id="51" name="Shape 49"/>
          <p:cNvSpPr/>
          <p:nvPr/>
        </p:nvSpPr>
        <p:spPr>
          <a:xfrm>
            <a:off x="7626096" y="1865376"/>
            <a:ext cx="457200" cy="320040"/>
          </a:xfrm>
          <a:prstGeom prst="rect">
            <a:avLst/>
          </a:prstGeom>
          <a:solidFill>
            <a:srgbClr val="F0F8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671816" y="186537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53" name="Shape 51"/>
          <p:cNvSpPr/>
          <p:nvPr/>
        </p:nvSpPr>
        <p:spPr>
          <a:xfrm>
            <a:off x="8083296" y="1865376"/>
            <a:ext cx="1060704" cy="320040"/>
          </a:xfrm>
          <a:prstGeom prst="rect">
            <a:avLst/>
          </a:prstGeom>
          <a:solidFill>
            <a:srgbClr val="F0F8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129016" y="1865376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000"/>
          </a:p>
        </p:txBody>
      </p:sp>
      <p:sp>
        <p:nvSpPr>
          <p:cNvPr id="55" name="Shape 53"/>
          <p:cNvSpPr/>
          <p:nvPr/>
        </p:nvSpPr>
        <p:spPr>
          <a:xfrm>
            <a:off x="256032" y="2194560"/>
            <a:ext cx="2834640" cy="320040"/>
          </a:xfrm>
          <a:prstGeom prst="rect">
            <a:avLst/>
          </a:prstGeom>
          <a:solidFill>
            <a:srgbClr val="F0F8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01752" y="2194560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XLS-R 300M (direct FT)</a:t>
            </a:r>
            <a:endParaRPr lang="en-US" sz="1000"/>
          </a:p>
        </p:txBody>
      </p:sp>
      <p:sp>
        <p:nvSpPr>
          <p:cNvPr id="57" name="Shape 55"/>
          <p:cNvSpPr/>
          <p:nvPr/>
        </p:nvSpPr>
        <p:spPr>
          <a:xfrm>
            <a:off x="3090672" y="2194560"/>
            <a:ext cx="2926080" cy="320040"/>
          </a:xfrm>
          <a:prstGeom prst="rect">
            <a:avLst/>
          </a:prstGeom>
          <a:solidFill>
            <a:srgbClr val="F0F8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136392" y="219456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Common Voice</a:t>
            </a:r>
            <a:endParaRPr lang="en-US" sz="1000"/>
          </a:p>
        </p:txBody>
      </p:sp>
      <p:sp>
        <p:nvSpPr>
          <p:cNvPr id="59" name="Shape 57"/>
          <p:cNvSpPr/>
          <p:nvPr/>
        </p:nvSpPr>
        <p:spPr>
          <a:xfrm>
            <a:off x="6016752" y="2194560"/>
            <a:ext cx="804672" cy="320040"/>
          </a:xfrm>
          <a:prstGeom prst="rect">
            <a:avLst/>
          </a:prstGeom>
          <a:solidFill>
            <a:srgbClr val="F0F8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062472" y="2194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</a:t>
            </a:r>
            <a:endParaRPr lang="en-US" sz="1000"/>
          </a:p>
        </p:txBody>
      </p:sp>
      <p:sp>
        <p:nvSpPr>
          <p:cNvPr id="61" name="Shape 59"/>
          <p:cNvSpPr/>
          <p:nvPr/>
        </p:nvSpPr>
        <p:spPr>
          <a:xfrm>
            <a:off x="6821424" y="2194560"/>
            <a:ext cx="804672" cy="320040"/>
          </a:xfrm>
          <a:prstGeom prst="rect">
            <a:avLst/>
          </a:prstGeom>
          <a:solidFill>
            <a:srgbClr val="F0F8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867144" y="2194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1000"/>
          </a:p>
        </p:txBody>
      </p:sp>
      <p:sp>
        <p:nvSpPr>
          <p:cNvPr id="63" name="Shape 61"/>
          <p:cNvSpPr/>
          <p:nvPr/>
        </p:nvSpPr>
        <p:spPr>
          <a:xfrm>
            <a:off x="7626096" y="2194560"/>
            <a:ext cx="457200" cy="320040"/>
          </a:xfrm>
          <a:prstGeom prst="rect">
            <a:avLst/>
          </a:prstGeom>
          <a:solidFill>
            <a:srgbClr val="F0F8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671816" y="219456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65" name="Shape 63"/>
          <p:cNvSpPr/>
          <p:nvPr/>
        </p:nvSpPr>
        <p:spPr>
          <a:xfrm>
            <a:off x="8083296" y="2194560"/>
            <a:ext cx="1060704" cy="320040"/>
          </a:xfrm>
          <a:prstGeom prst="rect">
            <a:avLst/>
          </a:prstGeom>
          <a:solidFill>
            <a:srgbClr val="F0F8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129016" y="219456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000"/>
          </a:p>
        </p:txBody>
      </p:sp>
      <p:sp>
        <p:nvSpPr>
          <p:cNvPr id="67" name="Shape 65"/>
          <p:cNvSpPr/>
          <p:nvPr/>
        </p:nvSpPr>
        <p:spPr>
          <a:xfrm>
            <a:off x="256032" y="2523744"/>
            <a:ext cx="2834640" cy="320040"/>
          </a:xfrm>
          <a:prstGeom prst="rect">
            <a:avLst/>
          </a:prstGeom>
          <a:solidFill>
            <a:srgbClr val="F0F8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01752" y="2523744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XLS-R 300M (two-stage)</a:t>
            </a:r>
            <a:endParaRPr lang="en-US" sz="1000"/>
          </a:p>
        </p:txBody>
      </p:sp>
      <p:sp>
        <p:nvSpPr>
          <p:cNvPr id="69" name="Shape 67"/>
          <p:cNvSpPr/>
          <p:nvPr/>
        </p:nvSpPr>
        <p:spPr>
          <a:xfrm>
            <a:off x="3090672" y="2523744"/>
            <a:ext cx="2926080" cy="320040"/>
          </a:xfrm>
          <a:prstGeom prst="rect">
            <a:avLst/>
          </a:prstGeom>
          <a:solidFill>
            <a:srgbClr val="F0F8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136392" y="2523744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pre-train → CV adapt.</a:t>
            </a:r>
            <a:endParaRPr lang="en-US" sz="1000"/>
          </a:p>
        </p:txBody>
      </p:sp>
      <p:sp>
        <p:nvSpPr>
          <p:cNvPr id="71" name="Shape 69"/>
          <p:cNvSpPr/>
          <p:nvPr/>
        </p:nvSpPr>
        <p:spPr>
          <a:xfrm>
            <a:off x="6016752" y="2523744"/>
            <a:ext cx="804672" cy="320040"/>
          </a:xfrm>
          <a:prstGeom prst="rect">
            <a:avLst/>
          </a:prstGeom>
          <a:solidFill>
            <a:srgbClr val="F0F8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062472" y="252374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1000"/>
          </a:p>
        </p:txBody>
      </p:sp>
      <p:sp>
        <p:nvSpPr>
          <p:cNvPr id="73" name="Shape 71"/>
          <p:cNvSpPr/>
          <p:nvPr/>
        </p:nvSpPr>
        <p:spPr>
          <a:xfrm>
            <a:off x="6821424" y="2523744"/>
            <a:ext cx="804672" cy="320040"/>
          </a:xfrm>
          <a:prstGeom prst="rect">
            <a:avLst/>
          </a:prstGeom>
          <a:solidFill>
            <a:srgbClr val="F0F8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867144" y="252374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1000"/>
          </a:p>
        </p:txBody>
      </p:sp>
      <p:sp>
        <p:nvSpPr>
          <p:cNvPr id="75" name="Shape 73"/>
          <p:cNvSpPr/>
          <p:nvPr/>
        </p:nvSpPr>
        <p:spPr>
          <a:xfrm>
            <a:off x="7626096" y="2523744"/>
            <a:ext cx="457200" cy="320040"/>
          </a:xfrm>
          <a:prstGeom prst="rect">
            <a:avLst/>
          </a:prstGeom>
          <a:solidFill>
            <a:srgbClr val="F0F8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671816" y="252374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77" name="Shape 75"/>
          <p:cNvSpPr/>
          <p:nvPr/>
        </p:nvSpPr>
        <p:spPr>
          <a:xfrm>
            <a:off x="8083296" y="2523744"/>
            <a:ext cx="1060704" cy="320040"/>
          </a:xfrm>
          <a:prstGeom prst="rect">
            <a:avLst/>
          </a:prstGeom>
          <a:solidFill>
            <a:srgbClr val="F0F8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8129016" y="2523744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2-stage</a:t>
            </a:r>
            <a:endParaRPr lang="en-US" sz="1000"/>
          </a:p>
        </p:txBody>
      </p:sp>
      <p:sp>
        <p:nvSpPr>
          <p:cNvPr id="79" name="Shape 77"/>
          <p:cNvSpPr/>
          <p:nvPr/>
        </p:nvSpPr>
        <p:spPr>
          <a:xfrm>
            <a:off x="256032" y="2852928"/>
            <a:ext cx="2834640" cy="320040"/>
          </a:xfrm>
          <a:prstGeom prst="rect">
            <a:avLst/>
          </a:prstGeom>
          <a:solidFill>
            <a:srgbClr val="F0FFF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01752" y="2852928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Conformer-CTC-Small</a:t>
            </a:r>
            <a:endParaRPr lang="en-US" sz="1000"/>
          </a:p>
        </p:txBody>
      </p:sp>
      <p:sp>
        <p:nvSpPr>
          <p:cNvPr id="81" name="Shape 79"/>
          <p:cNvSpPr/>
          <p:nvPr/>
        </p:nvSpPr>
        <p:spPr>
          <a:xfrm>
            <a:off x="3090672" y="2852928"/>
            <a:ext cx="2926080" cy="320040"/>
          </a:xfrm>
          <a:prstGeom prst="rect">
            <a:avLst/>
          </a:prstGeom>
          <a:solidFill>
            <a:srgbClr val="F0FFF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136392" y="285292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Common Voice</a:t>
            </a:r>
            <a:endParaRPr lang="en-US" sz="1000"/>
          </a:p>
        </p:txBody>
      </p:sp>
      <p:sp>
        <p:nvSpPr>
          <p:cNvPr id="83" name="Shape 81"/>
          <p:cNvSpPr/>
          <p:nvPr/>
        </p:nvSpPr>
        <p:spPr>
          <a:xfrm>
            <a:off x="6016752" y="2852928"/>
            <a:ext cx="804672" cy="320040"/>
          </a:xfrm>
          <a:prstGeom prst="rect">
            <a:avLst/>
          </a:prstGeom>
          <a:solidFill>
            <a:srgbClr val="F0FFF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062472" y="28529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000"/>
          </a:p>
        </p:txBody>
      </p:sp>
      <p:sp>
        <p:nvSpPr>
          <p:cNvPr id="85" name="Shape 83"/>
          <p:cNvSpPr/>
          <p:nvPr/>
        </p:nvSpPr>
        <p:spPr>
          <a:xfrm>
            <a:off x="6821424" y="2852928"/>
            <a:ext cx="804672" cy="320040"/>
          </a:xfrm>
          <a:prstGeom prst="rect">
            <a:avLst/>
          </a:prstGeom>
          <a:solidFill>
            <a:srgbClr val="F0FFF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867144" y="28529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000"/>
          </a:p>
        </p:txBody>
      </p:sp>
      <p:sp>
        <p:nvSpPr>
          <p:cNvPr id="87" name="Shape 85"/>
          <p:cNvSpPr/>
          <p:nvPr/>
        </p:nvSpPr>
        <p:spPr>
          <a:xfrm>
            <a:off x="7626096" y="2852928"/>
            <a:ext cx="457200" cy="320040"/>
          </a:xfrm>
          <a:prstGeom prst="rect">
            <a:avLst/>
          </a:prstGeom>
          <a:solidFill>
            <a:srgbClr val="F0FFF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7671816" y="285292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89" name="Shape 87"/>
          <p:cNvSpPr/>
          <p:nvPr/>
        </p:nvSpPr>
        <p:spPr>
          <a:xfrm>
            <a:off x="8083296" y="2852928"/>
            <a:ext cx="1060704" cy="320040"/>
          </a:xfrm>
          <a:prstGeom prst="rect">
            <a:avLst/>
          </a:prstGeom>
          <a:solidFill>
            <a:srgbClr val="F0FFF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8129016" y="285292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000"/>
          </a:p>
        </p:txBody>
      </p:sp>
      <p:sp>
        <p:nvSpPr>
          <p:cNvPr id="91" name="Shape 89"/>
          <p:cNvSpPr/>
          <p:nvPr/>
        </p:nvSpPr>
        <p:spPr>
          <a:xfrm>
            <a:off x="256032" y="3182112"/>
            <a:ext cx="2834640" cy="320040"/>
          </a:xfrm>
          <a:prstGeom prst="rect">
            <a:avLst/>
          </a:prstGeom>
          <a:solidFill>
            <a:srgbClr val="F0FFF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301752" y="3182112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Whisper-Small (zero-shot)</a:t>
            </a:r>
            <a:endParaRPr lang="en-US" sz="1000"/>
          </a:p>
        </p:txBody>
      </p:sp>
      <p:sp>
        <p:nvSpPr>
          <p:cNvPr id="93" name="Shape 91"/>
          <p:cNvSpPr/>
          <p:nvPr/>
        </p:nvSpPr>
        <p:spPr>
          <a:xfrm>
            <a:off x="3090672" y="3182112"/>
            <a:ext cx="2926080" cy="320040"/>
          </a:xfrm>
          <a:prstGeom prst="rect">
            <a:avLst/>
          </a:prstGeom>
          <a:solidFill>
            <a:srgbClr val="F0FFF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3136392" y="3182112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trained, zero-shot on CV</a:t>
            </a:r>
            <a:endParaRPr lang="en-US" sz="1000"/>
          </a:p>
        </p:txBody>
      </p:sp>
      <p:sp>
        <p:nvSpPr>
          <p:cNvPr id="95" name="Shape 93"/>
          <p:cNvSpPr/>
          <p:nvPr/>
        </p:nvSpPr>
        <p:spPr>
          <a:xfrm>
            <a:off x="6016752" y="3182112"/>
            <a:ext cx="804672" cy="320040"/>
          </a:xfrm>
          <a:prstGeom prst="rect">
            <a:avLst/>
          </a:prstGeom>
          <a:solidFill>
            <a:srgbClr val="F0FFF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6062472" y="318211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000"/>
          </a:p>
        </p:txBody>
      </p:sp>
      <p:sp>
        <p:nvSpPr>
          <p:cNvPr id="97" name="Shape 95"/>
          <p:cNvSpPr/>
          <p:nvPr/>
        </p:nvSpPr>
        <p:spPr>
          <a:xfrm>
            <a:off x="6821424" y="3182112"/>
            <a:ext cx="804672" cy="320040"/>
          </a:xfrm>
          <a:prstGeom prst="rect">
            <a:avLst/>
          </a:prstGeom>
          <a:solidFill>
            <a:srgbClr val="F0FFF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6867144" y="318211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000"/>
          </a:p>
        </p:txBody>
      </p:sp>
      <p:sp>
        <p:nvSpPr>
          <p:cNvPr id="99" name="Shape 97"/>
          <p:cNvSpPr/>
          <p:nvPr/>
        </p:nvSpPr>
        <p:spPr>
          <a:xfrm>
            <a:off x="7626096" y="3182112"/>
            <a:ext cx="457200" cy="320040"/>
          </a:xfrm>
          <a:prstGeom prst="rect">
            <a:avLst/>
          </a:prstGeom>
          <a:solidFill>
            <a:srgbClr val="F0FFF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7671816" y="31821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101" name="Shape 99"/>
          <p:cNvSpPr/>
          <p:nvPr/>
        </p:nvSpPr>
        <p:spPr>
          <a:xfrm>
            <a:off x="8083296" y="3182112"/>
            <a:ext cx="1060704" cy="320040"/>
          </a:xfrm>
          <a:prstGeom prst="rect">
            <a:avLst/>
          </a:prstGeom>
          <a:solidFill>
            <a:srgbClr val="F0FFF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8129016" y="3182112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000"/>
          </a:p>
        </p:txBody>
      </p:sp>
      <p:sp>
        <p:nvSpPr>
          <p:cNvPr id="103" name="Shape 101"/>
          <p:cNvSpPr/>
          <p:nvPr/>
        </p:nvSpPr>
        <p:spPr>
          <a:xfrm>
            <a:off x="256032" y="3511296"/>
            <a:ext cx="2834640" cy="320040"/>
          </a:xfrm>
          <a:prstGeom prst="rect">
            <a:avLst/>
          </a:prstGeom>
          <a:solidFill>
            <a:srgbClr val="E8FFF5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301752" y="3511296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Whisper-Small (full FFT)</a:t>
            </a:r>
            <a:endParaRPr lang="en-US" sz="1000"/>
          </a:p>
        </p:txBody>
      </p:sp>
      <p:sp>
        <p:nvSpPr>
          <p:cNvPr id="105" name="Shape 103"/>
          <p:cNvSpPr/>
          <p:nvPr/>
        </p:nvSpPr>
        <p:spPr>
          <a:xfrm>
            <a:off x="3090672" y="3511296"/>
            <a:ext cx="2926080" cy="320040"/>
          </a:xfrm>
          <a:prstGeom prst="rect">
            <a:avLst/>
          </a:prstGeom>
          <a:solidFill>
            <a:srgbClr val="E8FFF5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3136392" y="3511296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Common Voice</a:t>
            </a:r>
            <a:endParaRPr lang="en-US" sz="1000"/>
          </a:p>
        </p:txBody>
      </p:sp>
      <p:sp>
        <p:nvSpPr>
          <p:cNvPr id="107" name="Shape 105"/>
          <p:cNvSpPr/>
          <p:nvPr/>
        </p:nvSpPr>
        <p:spPr>
          <a:xfrm>
            <a:off x="6016752" y="3511296"/>
            <a:ext cx="804672" cy="320040"/>
          </a:xfrm>
          <a:prstGeom prst="rect">
            <a:avLst/>
          </a:prstGeom>
          <a:solidFill>
            <a:srgbClr val="E8FFF5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6062472" y="351129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1000"/>
          </a:p>
        </p:txBody>
      </p:sp>
      <p:sp>
        <p:nvSpPr>
          <p:cNvPr id="109" name="Shape 107"/>
          <p:cNvSpPr/>
          <p:nvPr/>
        </p:nvSpPr>
        <p:spPr>
          <a:xfrm>
            <a:off x="6821424" y="3511296"/>
            <a:ext cx="804672" cy="320040"/>
          </a:xfrm>
          <a:prstGeom prst="rect">
            <a:avLst/>
          </a:prstGeom>
          <a:solidFill>
            <a:srgbClr val="E8FFF5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6867144" y="351129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000"/>
          </a:p>
        </p:txBody>
      </p:sp>
      <p:sp>
        <p:nvSpPr>
          <p:cNvPr id="111" name="Shape 109"/>
          <p:cNvSpPr/>
          <p:nvPr/>
        </p:nvSpPr>
        <p:spPr>
          <a:xfrm>
            <a:off x="7626096" y="3511296"/>
            <a:ext cx="457200" cy="320040"/>
          </a:xfrm>
          <a:prstGeom prst="rect">
            <a:avLst/>
          </a:prstGeom>
          <a:solidFill>
            <a:srgbClr val="E8FFF5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7671816" y="351129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/>
          </a:p>
        </p:txBody>
      </p:sp>
      <p:sp>
        <p:nvSpPr>
          <p:cNvPr id="113" name="Shape 111"/>
          <p:cNvSpPr/>
          <p:nvPr/>
        </p:nvSpPr>
        <p:spPr>
          <a:xfrm>
            <a:off x="8083296" y="3511296"/>
            <a:ext cx="1060704" cy="320040"/>
          </a:xfrm>
          <a:prstGeom prst="rect">
            <a:avLst/>
          </a:prstGeom>
          <a:solidFill>
            <a:srgbClr val="E8FFF5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8129016" y="3511296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000"/>
          </a:p>
        </p:txBody>
      </p:sp>
      <p:sp>
        <p:nvSpPr>
          <p:cNvPr id="115" name="Shape 113"/>
          <p:cNvSpPr/>
          <p:nvPr/>
        </p:nvSpPr>
        <p:spPr>
          <a:xfrm>
            <a:off x="256032" y="3840480"/>
            <a:ext cx="2834640" cy="320040"/>
          </a:xfrm>
          <a:prstGeom prst="rect">
            <a:avLst/>
          </a:prstGeom>
          <a:solidFill>
            <a:srgbClr val="F0FFF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301752" y="3840480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Whisper-Small + LoRA</a:t>
            </a:r>
            <a:endParaRPr lang="en-US" sz="1000"/>
          </a:p>
        </p:txBody>
      </p:sp>
      <p:sp>
        <p:nvSpPr>
          <p:cNvPr id="117" name="Shape 115"/>
          <p:cNvSpPr/>
          <p:nvPr/>
        </p:nvSpPr>
        <p:spPr>
          <a:xfrm>
            <a:off x="3090672" y="3840480"/>
            <a:ext cx="2926080" cy="320040"/>
          </a:xfrm>
          <a:prstGeom prst="rect">
            <a:avLst/>
          </a:prstGeom>
          <a:solidFill>
            <a:srgbClr val="F0FFF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3136392" y="384048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pre-train → CV adapt. (4.7M)</a:t>
            </a:r>
            <a:endParaRPr lang="en-US" sz="1000"/>
          </a:p>
        </p:txBody>
      </p:sp>
      <p:sp>
        <p:nvSpPr>
          <p:cNvPr id="119" name="Shape 117"/>
          <p:cNvSpPr/>
          <p:nvPr/>
        </p:nvSpPr>
        <p:spPr>
          <a:xfrm>
            <a:off x="6016752" y="3840480"/>
            <a:ext cx="804672" cy="320040"/>
          </a:xfrm>
          <a:prstGeom prst="rect">
            <a:avLst/>
          </a:prstGeom>
          <a:solidFill>
            <a:srgbClr val="F0FFF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6062472" y="3840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</a:t>
            </a:r>
            <a:endParaRPr lang="en-US" sz="1000"/>
          </a:p>
        </p:txBody>
      </p:sp>
      <p:sp>
        <p:nvSpPr>
          <p:cNvPr id="121" name="Shape 119"/>
          <p:cNvSpPr/>
          <p:nvPr/>
        </p:nvSpPr>
        <p:spPr>
          <a:xfrm>
            <a:off x="6821424" y="3840480"/>
            <a:ext cx="804672" cy="320040"/>
          </a:xfrm>
          <a:prstGeom prst="rect">
            <a:avLst/>
          </a:prstGeom>
          <a:solidFill>
            <a:srgbClr val="F0FFF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6867144" y="3840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1000"/>
          </a:p>
        </p:txBody>
      </p:sp>
      <p:sp>
        <p:nvSpPr>
          <p:cNvPr id="123" name="Shape 121"/>
          <p:cNvSpPr/>
          <p:nvPr/>
        </p:nvSpPr>
        <p:spPr>
          <a:xfrm>
            <a:off x="7626096" y="3840480"/>
            <a:ext cx="457200" cy="320040"/>
          </a:xfrm>
          <a:prstGeom prst="rect">
            <a:avLst/>
          </a:prstGeom>
          <a:solidFill>
            <a:srgbClr val="F0FFF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7671816" y="384048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/>
          </a:p>
        </p:txBody>
      </p:sp>
      <p:sp>
        <p:nvSpPr>
          <p:cNvPr id="125" name="Shape 123"/>
          <p:cNvSpPr/>
          <p:nvPr/>
        </p:nvSpPr>
        <p:spPr>
          <a:xfrm>
            <a:off x="8083296" y="3840480"/>
            <a:ext cx="1060704" cy="320040"/>
          </a:xfrm>
          <a:prstGeom prst="rect">
            <a:avLst/>
          </a:prstGeom>
          <a:solidFill>
            <a:srgbClr val="F0FFF8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8129016" y="384048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</a:t>
            </a:r>
            <a:endParaRPr lang="en-US" sz="1000"/>
          </a:p>
        </p:txBody>
      </p:sp>
      <p:sp>
        <p:nvSpPr>
          <p:cNvPr id="127" name="Shape 125"/>
          <p:cNvSpPr/>
          <p:nvPr/>
        </p:nvSpPr>
        <p:spPr>
          <a:xfrm>
            <a:off x="256032" y="4224528"/>
            <a:ext cx="2084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256032" y="4224528"/>
            <a:ext cx="208483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256032" y="427939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9%</a:t>
            </a:r>
            <a:endParaRPr lang="en-US" sz="2600"/>
          </a:p>
        </p:txBody>
      </p:sp>
      <p:sp>
        <p:nvSpPr>
          <p:cNvPr id="130" name="Text 128"/>
          <p:cNvSpPr/>
          <p:nvPr/>
        </p:nvSpPr>
        <p:spPr>
          <a:xfrm>
            <a:off x="256032" y="473659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WER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(Whisper FFT)</a:t>
            </a:r>
            <a:endParaRPr lang="en-US" sz="950"/>
          </a:p>
        </p:txBody>
      </p:sp>
      <p:sp>
        <p:nvSpPr>
          <p:cNvPr id="131" name="Shape 129"/>
          <p:cNvSpPr/>
          <p:nvPr/>
        </p:nvSpPr>
        <p:spPr>
          <a:xfrm>
            <a:off x="2468880" y="4224528"/>
            <a:ext cx="2084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2468880" y="4224528"/>
            <a:ext cx="208483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2468880" y="427939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13%</a:t>
            </a:r>
            <a:endParaRPr lang="en-US" sz="2600"/>
          </a:p>
        </p:txBody>
      </p:sp>
      <p:sp>
        <p:nvSpPr>
          <p:cNvPr id="134" name="Text 132"/>
          <p:cNvSpPr/>
          <p:nvPr/>
        </p:nvSpPr>
        <p:spPr>
          <a:xfrm>
            <a:off x="2468880" y="473659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WER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(+4pp only)</a:t>
            </a:r>
            <a:endParaRPr lang="en-US" sz="950"/>
          </a:p>
        </p:txBody>
      </p:sp>
      <p:sp>
        <p:nvSpPr>
          <p:cNvPr id="135" name="Shape 133"/>
          <p:cNvSpPr/>
          <p:nvPr/>
        </p:nvSpPr>
        <p:spPr>
          <a:xfrm>
            <a:off x="4681728" y="4224528"/>
            <a:ext cx="2084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4681728" y="4224528"/>
            <a:ext cx="208483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4681728" y="427939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98.1%</a:t>
            </a:r>
            <a:endParaRPr lang="en-US" sz="2600"/>
          </a:p>
        </p:txBody>
      </p:sp>
      <p:sp>
        <p:nvSpPr>
          <p:cNvPr id="138" name="Text 136"/>
          <p:cNvSpPr/>
          <p:nvPr/>
        </p:nvSpPr>
        <p:spPr>
          <a:xfrm>
            <a:off x="4681728" y="473659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50"/>
          </a:p>
        </p:txBody>
      </p:sp>
      <p:sp>
        <p:nvSpPr>
          <p:cNvPr id="139" name="Shape 137"/>
          <p:cNvSpPr/>
          <p:nvPr/>
        </p:nvSpPr>
        <p:spPr>
          <a:xfrm>
            <a:off x="6876288" y="4219956"/>
            <a:ext cx="2084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6894576" y="4224528"/>
            <a:ext cx="208483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6894576" y="427939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4.7M</a:t>
            </a:r>
            <a:endParaRPr lang="en-US" sz="2600"/>
          </a:p>
        </p:txBody>
      </p:sp>
      <p:sp>
        <p:nvSpPr>
          <p:cNvPr id="142" name="Text 140"/>
          <p:cNvSpPr/>
          <p:nvPr/>
        </p:nvSpPr>
        <p:spPr>
          <a:xfrm>
            <a:off x="6894576" y="473659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Trainable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9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WER/CER Visual Comparison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all models on Common Voice en-AU test set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/>
          </a:p>
        </p:txBody>
      </p:sp>
      <p:graphicFrame>
        <p:nvGraphicFramePr>
          <p:cNvPr id="7" name="Chart 0"/>
          <p:cNvGraphicFramePr/>
          <p:nvPr/>
        </p:nvGraphicFramePr>
        <p:xfrm>
          <a:off x="256032" y="914400"/>
          <a:ext cx="8631936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132320" y="1188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Best: Whisper FFT</a:t>
            </a:r>
            <a:endParaRPr lang="en-US" sz="950"/>
          </a:p>
        </p:txBody>
      </p:sp>
      <p:sp>
        <p:nvSpPr>
          <p:cNvPr id="9" name="Text 6"/>
          <p:cNvSpPr/>
          <p:nvPr/>
        </p:nvSpPr>
        <p:spPr>
          <a:xfrm>
            <a:off x="7132320" y="14447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WER=9%, CER=3%</a:t>
            </a:r>
            <a:endParaRPr lang="en-US" sz="850"/>
          </a:p>
        </p:txBody>
      </p:sp>
      <p:sp>
        <p:nvSpPr>
          <p:cNvPr id="10" name="Shape 7"/>
          <p:cNvSpPr/>
          <p:nvPr/>
        </p:nvSpPr>
        <p:spPr>
          <a:xfrm>
            <a:off x="256032" y="4480560"/>
            <a:ext cx="8631936" cy="402336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4498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Whisper FFT achieves best WER/CER. LoRA (WER=13%) incurs only +4pp vs FFT at 98.1% parameter savings. Scratch-trained models lag far behind all pretrained approaches.</a:t>
            </a:r>
            <a:endParaRPr lang="en-US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Omnilingual PEFT on FLEURS Benchmark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LoRA adapter (r=64, α=128) vs baseline Whisper-Small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50976"/>
            <a:ext cx="124358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95097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1499616" y="950976"/>
            <a:ext cx="1499616" cy="2743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99616" y="95097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 Family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2999232" y="950976"/>
            <a:ext cx="1371600" cy="2743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99232" y="950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WER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4370832" y="950976"/>
            <a:ext cx="102412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70832" y="9509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Ours WER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5394960" y="950976"/>
            <a:ext cx="87782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94960" y="950976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6272784" y="950976"/>
            <a:ext cx="1920240" cy="2743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72784" y="950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ΔWER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256032" y="1225296"/>
            <a:ext cx="124358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01752" y="1225296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1499616" y="1225296"/>
            <a:ext cx="1499616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45336" y="1225296"/>
            <a:ext cx="1426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Indo-Aryan (Devanagari)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2999232" y="1225296"/>
            <a:ext cx="1371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044952" y="1225296"/>
            <a:ext cx="1298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36.70%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4370832" y="1225296"/>
            <a:ext cx="1024128" cy="338328"/>
          </a:xfrm>
          <a:prstGeom prst="rect">
            <a:avLst/>
          </a:prstGeom>
          <a:solidFill>
            <a:srgbClr val="E8FFF5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16552" y="1225296"/>
            <a:ext cx="950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3.81%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5394960" y="1225296"/>
            <a:ext cx="87782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40680" y="122529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1.24%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6272784" y="1225296"/>
            <a:ext cx="1920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18504" y="1225296"/>
            <a:ext cx="1847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−32.89 pp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256032" y="1572768"/>
            <a:ext cx="1243584" cy="33832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1752" y="1572768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</a:t>
            </a:r>
            <a:endParaRPr lang="en-US" sz="1050"/>
          </a:p>
        </p:txBody>
      </p:sp>
      <p:sp>
        <p:nvSpPr>
          <p:cNvPr id="33" name="Shape 31"/>
          <p:cNvSpPr/>
          <p:nvPr/>
        </p:nvSpPr>
        <p:spPr>
          <a:xfrm>
            <a:off x="1499616" y="1572768"/>
            <a:ext cx="1499616" cy="33832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545336" y="1572768"/>
            <a:ext cx="1426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Indo-Aryan (Devanagari)</a:t>
            </a:r>
            <a:endParaRPr lang="en-US" sz="1050"/>
          </a:p>
        </p:txBody>
      </p:sp>
      <p:sp>
        <p:nvSpPr>
          <p:cNvPr id="35" name="Shape 33"/>
          <p:cNvSpPr/>
          <p:nvPr/>
        </p:nvSpPr>
        <p:spPr>
          <a:xfrm>
            <a:off x="2999232" y="1572768"/>
            <a:ext cx="1371600" cy="33832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044952" y="1572768"/>
            <a:ext cx="1298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81.21%</a:t>
            </a:r>
            <a:endParaRPr lang="en-US" sz="1050"/>
          </a:p>
        </p:txBody>
      </p:sp>
      <p:sp>
        <p:nvSpPr>
          <p:cNvPr id="37" name="Shape 35"/>
          <p:cNvSpPr/>
          <p:nvPr/>
        </p:nvSpPr>
        <p:spPr>
          <a:xfrm>
            <a:off x="4370832" y="1572768"/>
            <a:ext cx="1024128" cy="338328"/>
          </a:xfrm>
          <a:prstGeom prst="rect">
            <a:avLst/>
          </a:prstGeom>
          <a:solidFill>
            <a:srgbClr val="E8FFF5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416552" y="1572768"/>
            <a:ext cx="950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4.92%</a:t>
            </a:r>
            <a:endParaRPr lang="en-US" sz="1050"/>
          </a:p>
        </p:txBody>
      </p:sp>
      <p:sp>
        <p:nvSpPr>
          <p:cNvPr id="39" name="Shape 37"/>
          <p:cNvSpPr/>
          <p:nvPr/>
        </p:nvSpPr>
        <p:spPr>
          <a:xfrm>
            <a:off x="5394960" y="1572768"/>
            <a:ext cx="877824" cy="33832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40680" y="1572768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2.01%</a:t>
            </a:r>
            <a:endParaRPr lang="en-US" sz="1050"/>
          </a:p>
        </p:txBody>
      </p:sp>
      <p:sp>
        <p:nvSpPr>
          <p:cNvPr id="41" name="Shape 39"/>
          <p:cNvSpPr/>
          <p:nvPr/>
        </p:nvSpPr>
        <p:spPr>
          <a:xfrm>
            <a:off x="6272784" y="1572768"/>
            <a:ext cx="1920240" cy="33832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18504" y="1572768"/>
            <a:ext cx="1847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−76.29 pp ★</a:t>
            </a:r>
            <a:endParaRPr lang="en-US" sz="1050"/>
          </a:p>
        </p:txBody>
      </p:sp>
      <p:sp>
        <p:nvSpPr>
          <p:cNvPr id="43" name="Shape 41"/>
          <p:cNvSpPr/>
          <p:nvPr/>
        </p:nvSpPr>
        <p:spPr>
          <a:xfrm>
            <a:off x="256032" y="1920240"/>
            <a:ext cx="124358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01752" y="1920240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</a:t>
            </a:r>
            <a:endParaRPr lang="en-US" sz="1050"/>
          </a:p>
        </p:txBody>
      </p:sp>
      <p:sp>
        <p:nvSpPr>
          <p:cNvPr id="45" name="Shape 43"/>
          <p:cNvSpPr/>
          <p:nvPr/>
        </p:nvSpPr>
        <p:spPr>
          <a:xfrm>
            <a:off x="1499616" y="1920240"/>
            <a:ext cx="1499616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545336" y="1920240"/>
            <a:ext cx="1426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Indo-Aryan (Bengali)</a:t>
            </a:r>
            <a:endParaRPr lang="en-US" sz="1050"/>
          </a:p>
        </p:txBody>
      </p:sp>
      <p:sp>
        <p:nvSpPr>
          <p:cNvPr id="47" name="Shape 45"/>
          <p:cNvSpPr/>
          <p:nvPr/>
        </p:nvSpPr>
        <p:spPr>
          <a:xfrm>
            <a:off x="2999232" y="1920240"/>
            <a:ext cx="1371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044952" y="1920240"/>
            <a:ext cx="1298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81.21%</a:t>
            </a:r>
            <a:endParaRPr lang="en-US" sz="1050"/>
          </a:p>
        </p:txBody>
      </p:sp>
      <p:sp>
        <p:nvSpPr>
          <p:cNvPr id="49" name="Shape 47"/>
          <p:cNvSpPr/>
          <p:nvPr/>
        </p:nvSpPr>
        <p:spPr>
          <a:xfrm>
            <a:off x="4370832" y="1920240"/>
            <a:ext cx="1024128" cy="338328"/>
          </a:xfrm>
          <a:prstGeom prst="rect">
            <a:avLst/>
          </a:prstGeom>
          <a:solidFill>
            <a:srgbClr val="E8FFF5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416552" y="1920240"/>
            <a:ext cx="950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4.87%</a:t>
            </a:r>
            <a:endParaRPr lang="en-US" sz="1050"/>
          </a:p>
        </p:txBody>
      </p:sp>
      <p:sp>
        <p:nvSpPr>
          <p:cNvPr id="51" name="Shape 49"/>
          <p:cNvSpPr/>
          <p:nvPr/>
        </p:nvSpPr>
        <p:spPr>
          <a:xfrm>
            <a:off x="5394960" y="1920240"/>
            <a:ext cx="87782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440680" y="1920240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1.98%</a:t>
            </a:r>
            <a:endParaRPr lang="en-US" sz="1050"/>
          </a:p>
        </p:txBody>
      </p:sp>
      <p:sp>
        <p:nvSpPr>
          <p:cNvPr id="53" name="Shape 51"/>
          <p:cNvSpPr/>
          <p:nvPr/>
        </p:nvSpPr>
        <p:spPr>
          <a:xfrm>
            <a:off x="6272784" y="1920240"/>
            <a:ext cx="1920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318504" y="1920240"/>
            <a:ext cx="1847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−76.34 pp ★</a:t>
            </a:r>
            <a:endParaRPr lang="en-US" sz="1050"/>
          </a:p>
        </p:txBody>
      </p:sp>
      <p:sp>
        <p:nvSpPr>
          <p:cNvPr id="55" name="Shape 53"/>
          <p:cNvSpPr/>
          <p:nvPr/>
        </p:nvSpPr>
        <p:spPr>
          <a:xfrm>
            <a:off x="256032" y="2267712"/>
            <a:ext cx="1243584" cy="33832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01752" y="2267712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</a:t>
            </a:r>
            <a:endParaRPr lang="en-US" sz="1050"/>
          </a:p>
        </p:txBody>
      </p:sp>
      <p:sp>
        <p:nvSpPr>
          <p:cNvPr id="57" name="Shape 55"/>
          <p:cNvSpPr/>
          <p:nvPr/>
        </p:nvSpPr>
        <p:spPr>
          <a:xfrm>
            <a:off x="1499616" y="2267712"/>
            <a:ext cx="1499616" cy="33832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545336" y="2267712"/>
            <a:ext cx="1426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Indo-Aryan (Nastaliq)</a:t>
            </a:r>
            <a:endParaRPr lang="en-US" sz="1050"/>
          </a:p>
        </p:txBody>
      </p:sp>
      <p:sp>
        <p:nvSpPr>
          <p:cNvPr id="59" name="Shape 57"/>
          <p:cNvSpPr/>
          <p:nvPr/>
        </p:nvSpPr>
        <p:spPr>
          <a:xfrm>
            <a:off x="2999232" y="2267712"/>
            <a:ext cx="1371600" cy="33832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044952" y="2267712"/>
            <a:ext cx="1298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27.86%</a:t>
            </a:r>
            <a:endParaRPr lang="en-US" sz="1050"/>
          </a:p>
        </p:txBody>
      </p:sp>
      <p:sp>
        <p:nvSpPr>
          <p:cNvPr id="61" name="Shape 59"/>
          <p:cNvSpPr/>
          <p:nvPr/>
        </p:nvSpPr>
        <p:spPr>
          <a:xfrm>
            <a:off x="4370832" y="2267712"/>
            <a:ext cx="1024128" cy="338328"/>
          </a:xfrm>
          <a:prstGeom prst="rect">
            <a:avLst/>
          </a:prstGeom>
          <a:solidFill>
            <a:srgbClr val="E8FFF5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416552" y="2267712"/>
            <a:ext cx="950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4.13%</a:t>
            </a:r>
            <a:endParaRPr lang="en-US" sz="1050"/>
          </a:p>
        </p:txBody>
      </p:sp>
      <p:sp>
        <p:nvSpPr>
          <p:cNvPr id="63" name="Shape 61"/>
          <p:cNvSpPr/>
          <p:nvPr/>
        </p:nvSpPr>
        <p:spPr>
          <a:xfrm>
            <a:off x="5394960" y="2267712"/>
            <a:ext cx="877824" cy="33832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440680" y="2267712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1.45%</a:t>
            </a:r>
            <a:endParaRPr lang="en-US" sz="1050"/>
          </a:p>
        </p:txBody>
      </p:sp>
      <p:sp>
        <p:nvSpPr>
          <p:cNvPr id="65" name="Shape 63"/>
          <p:cNvSpPr/>
          <p:nvPr/>
        </p:nvSpPr>
        <p:spPr>
          <a:xfrm>
            <a:off x="6272784" y="2267712"/>
            <a:ext cx="1920240" cy="33832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318504" y="2267712"/>
            <a:ext cx="1847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−23.73 pp</a:t>
            </a:r>
            <a:endParaRPr lang="en-US" sz="1050"/>
          </a:p>
        </p:txBody>
      </p:sp>
      <p:sp>
        <p:nvSpPr>
          <p:cNvPr id="67" name="Shape 65"/>
          <p:cNvSpPr/>
          <p:nvPr/>
        </p:nvSpPr>
        <p:spPr>
          <a:xfrm>
            <a:off x="256032" y="2615184"/>
            <a:ext cx="124358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01752" y="2615184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50"/>
          </a:p>
        </p:txBody>
      </p:sp>
      <p:sp>
        <p:nvSpPr>
          <p:cNvPr id="69" name="Shape 67"/>
          <p:cNvSpPr/>
          <p:nvPr/>
        </p:nvSpPr>
        <p:spPr>
          <a:xfrm>
            <a:off x="1499616" y="2615184"/>
            <a:ext cx="1499616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545336" y="2615184"/>
            <a:ext cx="1426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Germanic (Latin)</a:t>
            </a:r>
            <a:endParaRPr lang="en-US" sz="1050"/>
          </a:p>
        </p:txBody>
      </p:sp>
      <p:sp>
        <p:nvSpPr>
          <p:cNvPr id="71" name="Shape 69"/>
          <p:cNvSpPr/>
          <p:nvPr/>
        </p:nvSpPr>
        <p:spPr>
          <a:xfrm>
            <a:off x="2999232" y="2615184"/>
            <a:ext cx="1371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044952" y="2615184"/>
            <a:ext cx="1298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14.83%</a:t>
            </a:r>
            <a:endParaRPr lang="en-US" sz="1050"/>
          </a:p>
        </p:txBody>
      </p:sp>
      <p:sp>
        <p:nvSpPr>
          <p:cNvPr id="73" name="Shape 71"/>
          <p:cNvSpPr/>
          <p:nvPr/>
        </p:nvSpPr>
        <p:spPr>
          <a:xfrm>
            <a:off x="4370832" y="2615184"/>
            <a:ext cx="1024128" cy="338328"/>
          </a:xfrm>
          <a:prstGeom prst="rect">
            <a:avLst/>
          </a:prstGeom>
          <a:solidFill>
            <a:srgbClr val="E8FFF5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416552" y="2615184"/>
            <a:ext cx="950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2.91%</a:t>
            </a:r>
            <a:endParaRPr lang="en-US" sz="1050"/>
          </a:p>
        </p:txBody>
      </p:sp>
      <p:sp>
        <p:nvSpPr>
          <p:cNvPr id="75" name="Shape 73"/>
          <p:cNvSpPr/>
          <p:nvPr/>
        </p:nvSpPr>
        <p:spPr>
          <a:xfrm>
            <a:off x="5394960" y="2615184"/>
            <a:ext cx="87782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440680" y="2615184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0.86%</a:t>
            </a:r>
            <a:endParaRPr lang="en-US" sz="1050"/>
          </a:p>
        </p:txBody>
      </p:sp>
      <p:sp>
        <p:nvSpPr>
          <p:cNvPr id="77" name="Shape 75"/>
          <p:cNvSpPr/>
          <p:nvPr/>
        </p:nvSpPr>
        <p:spPr>
          <a:xfrm>
            <a:off x="6272784" y="2615184"/>
            <a:ext cx="1920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318504" y="2615184"/>
            <a:ext cx="1847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−11.92 pp</a:t>
            </a:r>
            <a:endParaRPr lang="en-US" sz="1050"/>
          </a:p>
        </p:txBody>
      </p:sp>
      <p:sp>
        <p:nvSpPr>
          <p:cNvPr id="79" name="Shape 77"/>
          <p:cNvSpPr/>
          <p:nvPr/>
        </p:nvSpPr>
        <p:spPr>
          <a:xfrm>
            <a:off x="256032" y="2962656"/>
            <a:ext cx="1243584" cy="33832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01752" y="2962656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</a:t>
            </a:r>
            <a:endParaRPr lang="en-US" sz="1050"/>
          </a:p>
        </p:txBody>
      </p:sp>
      <p:sp>
        <p:nvSpPr>
          <p:cNvPr id="81" name="Shape 79"/>
          <p:cNvSpPr/>
          <p:nvPr/>
        </p:nvSpPr>
        <p:spPr>
          <a:xfrm>
            <a:off x="1499616" y="2962656"/>
            <a:ext cx="1499616" cy="33832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1545336" y="2962656"/>
            <a:ext cx="1426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Romance (Latin)</a:t>
            </a:r>
            <a:endParaRPr lang="en-US" sz="1050"/>
          </a:p>
        </p:txBody>
      </p:sp>
      <p:sp>
        <p:nvSpPr>
          <p:cNvPr id="83" name="Shape 81"/>
          <p:cNvSpPr/>
          <p:nvPr/>
        </p:nvSpPr>
        <p:spPr>
          <a:xfrm>
            <a:off x="2999232" y="2962656"/>
            <a:ext cx="1371600" cy="33832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3044952" y="2962656"/>
            <a:ext cx="1298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11.49%</a:t>
            </a:r>
            <a:endParaRPr lang="en-US" sz="1050"/>
          </a:p>
        </p:txBody>
      </p:sp>
      <p:sp>
        <p:nvSpPr>
          <p:cNvPr id="85" name="Shape 83"/>
          <p:cNvSpPr/>
          <p:nvPr/>
        </p:nvSpPr>
        <p:spPr>
          <a:xfrm>
            <a:off x="4370832" y="2962656"/>
            <a:ext cx="1024128" cy="338328"/>
          </a:xfrm>
          <a:prstGeom prst="rect">
            <a:avLst/>
          </a:prstGeom>
          <a:solidFill>
            <a:srgbClr val="E8FFF5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416552" y="2962656"/>
            <a:ext cx="950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3.17%</a:t>
            </a:r>
            <a:endParaRPr lang="en-US" sz="1050"/>
          </a:p>
        </p:txBody>
      </p:sp>
      <p:sp>
        <p:nvSpPr>
          <p:cNvPr id="87" name="Shape 85"/>
          <p:cNvSpPr/>
          <p:nvPr/>
        </p:nvSpPr>
        <p:spPr>
          <a:xfrm>
            <a:off x="5394960" y="2962656"/>
            <a:ext cx="877824" cy="33832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5440680" y="296265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0.93%</a:t>
            </a:r>
            <a:endParaRPr lang="en-US" sz="1050"/>
          </a:p>
        </p:txBody>
      </p:sp>
      <p:sp>
        <p:nvSpPr>
          <p:cNvPr id="89" name="Shape 87"/>
          <p:cNvSpPr/>
          <p:nvPr/>
        </p:nvSpPr>
        <p:spPr>
          <a:xfrm>
            <a:off x="6272784" y="2962656"/>
            <a:ext cx="1920240" cy="338328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318504" y="2962656"/>
            <a:ext cx="1847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−8.32 pp</a:t>
            </a:r>
            <a:endParaRPr lang="en-US" sz="1050"/>
          </a:p>
        </p:txBody>
      </p:sp>
      <p:sp>
        <p:nvSpPr>
          <p:cNvPr id="91" name="Shape 89"/>
          <p:cNvSpPr/>
          <p:nvPr/>
        </p:nvSpPr>
        <p:spPr>
          <a:xfrm>
            <a:off x="256032" y="3310128"/>
            <a:ext cx="124358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301752" y="3310128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</a:t>
            </a:r>
            <a:endParaRPr lang="en-US" sz="1050"/>
          </a:p>
        </p:txBody>
      </p:sp>
      <p:sp>
        <p:nvSpPr>
          <p:cNvPr id="93" name="Shape 91"/>
          <p:cNvSpPr/>
          <p:nvPr/>
        </p:nvSpPr>
        <p:spPr>
          <a:xfrm>
            <a:off x="1499616" y="3310128"/>
            <a:ext cx="1499616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1545336" y="3310128"/>
            <a:ext cx="1426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Germanic (Latin)</a:t>
            </a:r>
            <a:endParaRPr lang="en-US" sz="1050"/>
          </a:p>
        </p:txBody>
      </p:sp>
      <p:sp>
        <p:nvSpPr>
          <p:cNvPr id="95" name="Shape 93"/>
          <p:cNvSpPr/>
          <p:nvPr/>
        </p:nvSpPr>
        <p:spPr>
          <a:xfrm>
            <a:off x="2999232" y="3310128"/>
            <a:ext cx="1371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3044952" y="3310128"/>
            <a:ext cx="12984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9.01%</a:t>
            </a:r>
            <a:endParaRPr lang="en-US" sz="1050"/>
          </a:p>
        </p:txBody>
      </p:sp>
      <p:sp>
        <p:nvSpPr>
          <p:cNvPr id="97" name="Shape 95"/>
          <p:cNvSpPr/>
          <p:nvPr/>
        </p:nvSpPr>
        <p:spPr>
          <a:xfrm>
            <a:off x="4370832" y="3310128"/>
            <a:ext cx="1024128" cy="338328"/>
          </a:xfrm>
          <a:prstGeom prst="rect">
            <a:avLst/>
          </a:prstGeom>
          <a:solidFill>
            <a:srgbClr val="E8FFF5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4416552" y="3310128"/>
            <a:ext cx="950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2.88%</a:t>
            </a:r>
            <a:endParaRPr lang="en-US" sz="1050"/>
          </a:p>
        </p:txBody>
      </p:sp>
      <p:sp>
        <p:nvSpPr>
          <p:cNvPr id="99" name="Shape 97"/>
          <p:cNvSpPr/>
          <p:nvPr/>
        </p:nvSpPr>
        <p:spPr>
          <a:xfrm>
            <a:off x="5394960" y="3310128"/>
            <a:ext cx="877824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5440680" y="3310128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0.71%</a:t>
            </a:r>
            <a:endParaRPr lang="en-US" sz="1050"/>
          </a:p>
        </p:txBody>
      </p:sp>
      <p:sp>
        <p:nvSpPr>
          <p:cNvPr id="101" name="Shape 99"/>
          <p:cNvSpPr/>
          <p:nvPr/>
        </p:nvSpPr>
        <p:spPr>
          <a:xfrm>
            <a:off x="6272784" y="3310128"/>
            <a:ext cx="1920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6318504" y="3310128"/>
            <a:ext cx="1847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−6.13 pp</a:t>
            </a:r>
            <a:endParaRPr lang="en-US" sz="1050"/>
          </a:p>
        </p:txBody>
      </p:sp>
      <p:graphicFrame>
        <p:nvGraphicFramePr>
          <p:cNvPr id="103" name="Chart 0"/>
          <p:cNvGraphicFramePr/>
          <p:nvPr/>
        </p:nvGraphicFramePr>
        <p:xfrm>
          <a:off x="6199632" y="950976"/>
          <a:ext cx="2688336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4" name="Shape 101"/>
          <p:cNvSpPr/>
          <p:nvPr/>
        </p:nvSpPr>
        <p:spPr>
          <a:xfrm>
            <a:off x="256032" y="3950208"/>
            <a:ext cx="8631936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2"/>
          <p:cNvSpPr/>
          <p:nvPr/>
        </p:nvSpPr>
        <p:spPr>
          <a:xfrm>
            <a:off x="384048" y="4005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Findings:</a:t>
            </a:r>
            <a:endParaRPr lang="en-US" sz="1100"/>
          </a:p>
        </p:txBody>
      </p:sp>
      <p:sp>
        <p:nvSpPr>
          <p:cNvPr id="106" name="Text 103"/>
          <p:cNvSpPr/>
          <p:nvPr/>
        </p:nvSpPr>
        <p:spPr>
          <a:xfrm>
            <a:off x="384048" y="42793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All 7 languages achieve sub-5% CER — confirming the single-adapter hypothesis</a:t>
            </a:r>
            <a:endParaRPr lang="en-US" sz="1000"/>
          </a:p>
        </p:txBody>
      </p:sp>
      <p:sp>
        <p:nvSpPr>
          <p:cNvPr id="107" name="Text 104"/>
          <p:cNvSpPr/>
          <p:nvPr/>
        </p:nvSpPr>
        <p:spPr>
          <a:xfrm>
            <a:off x="384048" y="44805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Indic languages (Marathi/Bengali, 81% baseline) see the largest gains: −76.3 pp WER reduction</a:t>
            </a:r>
            <a:endParaRPr lang="en-US" sz="1000"/>
          </a:p>
        </p:txBody>
      </p:sp>
      <p:sp>
        <p:nvSpPr>
          <p:cNvPr id="108" name="Text 105"/>
          <p:cNvSpPr/>
          <p:nvPr/>
        </p:nvSpPr>
        <p:spPr>
          <a:xfrm>
            <a:off x="384048" y="46817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Weight fusion via merge_and_unload() removes runtime overhead — base model inference speed retained</a:t>
            </a:r>
            <a:endParaRPr lang="en-US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 — Ablation Study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paradigm comparison and what each adds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78892" y="901434"/>
            <a:ext cx="2286000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" y="90143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Paradigm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2539746" y="903082"/>
            <a:ext cx="749808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42032" y="8883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WER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3291840" y="895587"/>
            <a:ext cx="749808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00984" y="895587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CER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041648" y="895587"/>
            <a:ext cx="1426464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50792" y="879883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Trainable Params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5530846" y="886968"/>
            <a:ext cx="2425559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44905" y="88839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301752" y="120700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2542032" y="1207008"/>
            <a:ext cx="749808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87752" y="120700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3337560" y="1207008"/>
            <a:ext cx="676656" cy="28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4087368" y="12070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≤30M (all)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5507611" y="1172268"/>
            <a:ext cx="24653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 insufficient; no transfer benefit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301752" y="1444752"/>
            <a:ext cx="2212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QuartzNet (LS Pretrain)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2551176" y="1509510"/>
            <a:ext cx="749808" cy="301002"/>
          </a:xfrm>
          <a:prstGeom prst="rect">
            <a:avLst/>
          </a:prstGeom>
          <a:solidFill>
            <a:srgbClr val="000000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587752" y="1609344"/>
            <a:ext cx="6766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3328416" y="1488862"/>
            <a:ext cx="676656" cy="301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4096512" y="1483615"/>
            <a:ext cx="1353312" cy="33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6.7M (all)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5503264" y="1452977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Clean-speech pretraining ≠ accent adaptation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320040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100"/>
          </a:p>
        </p:txBody>
      </p:sp>
      <p:sp>
        <p:nvSpPr>
          <p:cNvPr id="39" name="Shape 37"/>
          <p:cNvSpPr/>
          <p:nvPr/>
        </p:nvSpPr>
        <p:spPr>
          <a:xfrm>
            <a:off x="2539746" y="1861366"/>
            <a:ext cx="749808" cy="337091"/>
          </a:xfrm>
          <a:prstGeom prst="rect">
            <a:avLst/>
          </a:prstGeom>
          <a:solidFill>
            <a:srgbClr val="000000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576322" y="1900866"/>
            <a:ext cx="676656" cy="289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000"/>
          </a:p>
        </p:txBody>
      </p:sp>
      <p:sp>
        <p:nvSpPr>
          <p:cNvPr id="42" name="Text 40"/>
          <p:cNvSpPr/>
          <p:nvPr/>
        </p:nvSpPr>
        <p:spPr>
          <a:xfrm>
            <a:off x="3328416" y="1861366"/>
            <a:ext cx="676656" cy="32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4087368" y="184708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≤30M (all)</a:t>
            </a:r>
            <a:endParaRPr lang="en-US" sz="1000"/>
          </a:p>
        </p:txBody>
      </p:sp>
      <p:sp>
        <p:nvSpPr>
          <p:cNvPr id="46" name="Text 44"/>
          <p:cNvSpPr/>
          <p:nvPr/>
        </p:nvSpPr>
        <p:spPr>
          <a:xfrm>
            <a:off x="5512408" y="1817370"/>
            <a:ext cx="24653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5.4× WER reduction over scratch — pretraining matters</a:t>
            </a:r>
            <a:endParaRPr lang="en-US" sz="1000"/>
          </a:p>
        </p:txBody>
      </p:sp>
      <p:sp>
        <p:nvSpPr>
          <p:cNvPr id="48" name="Text 46"/>
          <p:cNvSpPr/>
          <p:nvPr/>
        </p:nvSpPr>
        <p:spPr>
          <a:xfrm>
            <a:off x="315468" y="2198457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Transfer</a:t>
            </a:r>
            <a:endParaRPr lang="en-US" sz="1100"/>
          </a:p>
        </p:txBody>
      </p:sp>
      <p:sp>
        <p:nvSpPr>
          <p:cNvPr id="49" name="Shape 47"/>
          <p:cNvSpPr/>
          <p:nvPr/>
        </p:nvSpPr>
        <p:spPr>
          <a:xfrm>
            <a:off x="2539746" y="2210488"/>
            <a:ext cx="749808" cy="345111"/>
          </a:xfrm>
          <a:prstGeom prst="rect">
            <a:avLst/>
          </a:prstGeom>
          <a:solidFill>
            <a:srgbClr val="000000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560320" y="224312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</a:t>
            </a:r>
            <a:endParaRPr lang="en-US" sz="1000"/>
          </a:p>
        </p:txBody>
      </p:sp>
      <p:sp>
        <p:nvSpPr>
          <p:cNvPr id="52" name="Text 50"/>
          <p:cNvSpPr/>
          <p:nvPr/>
        </p:nvSpPr>
        <p:spPr>
          <a:xfrm>
            <a:off x="3337560" y="2210488"/>
            <a:ext cx="676656" cy="34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1000"/>
          </a:p>
        </p:txBody>
      </p:sp>
      <p:sp>
        <p:nvSpPr>
          <p:cNvPr id="54" name="Text 52"/>
          <p:cNvSpPr/>
          <p:nvPr/>
        </p:nvSpPr>
        <p:spPr>
          <a:xfrm>
            <a:off x="4087368" y="218998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 (all)</a:t>
            </a:r>
            <a:endParaRPr lang="en-US" sz="1000"/>
          </a:p>
        </p:txBody>
      </p:sp>
      <p:sp>
        <p:nvSpPr>
          <p:cNvPr id="56" name="Text 54"/>
          <p:cNvSpPr/>
          <p:nvPr/>
        </p:nvSpPr>
        <p:spPr>
          <a:xfrm>
            <a:off x="5507836" y="2176272"/>
            <a:ext cx="24485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XLS-R: strong multilingual transfer, no en-AU specificity</a:t>
            </a:r>
            <a:endParaRPr lang="en-US" sz="1000"/>
          </a:p>
        </p:txBody>
      </p:sp>
      <p:sp>
        <p:nvSpPr>
          <p:cNvPr id="58" name="Text 56"/>
          <p:cNvSpPr/>
          <p:nvPr/>
        </p:nvSpPr>
        <p:spPr>
          <a:xfrm>
            <a:off x="301752" y="2555599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Adaptation</a:t>
            </a:r>
            <a:endParaRPr lang="en-US" sz="1100"/>
          </a:p>
        </p:txBody>
      </p:sp>
      <p:sp>
        <p:nvSpPr>
          <p:cNvPr id="59" name="Shape 57"/>
          <p:cNvSpPr/>
          <p:nvPr/>
        </p:nvSpPr>
        <p:spPr>
          <a:xfrm>
            <a:off x="2537460" y="2570327"/>
            <a:ext cx="749808" cy="384048"/>
          </a:xfrm>
          <a:prstGeom prst="rect">
            <a:avLst/>
          </a:prstGeom>
          <a:solidFill>
            <a:srgbClr val="000000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555748" y="256286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0F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1000"/>
          </a:p>
        </p:txBody>
      </p:sp>
      <p:sp>
        <p:nvSpPr>
          <p:cNvPr id="62" name="Text 60"/>
          <p:cNvSpPr/>
          <p:nvPr/>
        </p:nvSpPr>
        <p:spPr>
          <a:xfrm>
            <a:off x="3337560" y="2562680"/>
            <a:ext cx="676656" cy="29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1000"/>
          </a:p>
        </p:txBody>
      </p:sp>
      <p:sp>
        <p:nvSpPr>
          <p:cNvPr id="64" name="Text 62"/>
          <p:cNvSpPr/>
          <p:nvPr/>
        </p:nvSpPr>
        <p:spPr>
          <a:xfrm>
            <a:off x="4087368" y="253967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 (all)</a:t>
            </a:r>
            <a:endParaRPr lang="en-US" sz="1000"/>
          </a:p>
        </p:txBody>
      </p:sp>
      <p:sp>
        <p:nvSpPr>
          <p:cNvPr id="66" name="Text 64"/>
          <p:cNvSpPr/>
          <p:nvPr/>
        </p:nvSpPr>
        <p:spPr>
          <a:xfrm>
            <a:off x="5498393" y="2528578"/>
            <a:ext cx="22743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bias impedes accent adaptation. — but retains phonetics</a:t>
            </a:r>
            <a:endParaRPr lang="en-US" sz="1000"/>
          </a:p>
        </p:txBody>
      </p:sp>
      <p:sp>
        <p:nvSpPr>
          <p:cNvPr id="68" name="Text 66"/>
          <p:cNvSpPr/>
          <p:nvPr/>
        </p:nvSpPr>
        <p:spPr>
          <a:xfrm>
            <a:off x="315468" y="292046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FFT</a:t>
            </a:r>
            <a:endParaRPr lang="en-US" sz="1100"/>
          </a:p>
        </p:txBody>
      </p:sp>
      <p:sp>
        <p:nvSpPr>
          <p:cNvPr id="69" name="Shape 67"/>
          <p:cNvSpPr/>
          <p:nvPr/>
        </p:nvSpPr>
        <p:spPr>
          <a:xfrm>
            <a:off x="2539746" y="2978770"/>
            <a:ext cx="749808" cy="308686"/>
          </a:xfrm>
          <a:prstGeom prst="rect">
            <a:avLst/>
          </a:prstGeom>
          <a:solidFill>
            <a:srgbClr val="000000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558971" y="2941089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E8F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1000"/>
          </a:p>
        </p:txBody>
      </p:sp>
      <p:sp>
        <p:nvSpPr>
          <p:cNvPr id="72" name="Text 70"/>
          <p:cNvSpPr/>
          <p:nvPr/>
        </p:nvSpPr>
        <p:spPr>
          <a:xfrm>
            <a:off x="3308779" y="2980419"/>
            <a:ext cx="676656" cy="29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000"/>
          </a:p>
        </p:txBody>
      </p:sp>
      <p:sp>
        <p:nvSpPr>
          <p:cNvPr id="74" name="Text 72"/>
          <p:cNvSpPr/>
          <p:nvPr/>
        </p:nvSpPr>
        <p:spPr>
          <a:xfrm>
            <a:off x="4079049" y="2926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244M (all)</a:t>
            </a:r>
            <a:endParaRPr lang="en-US" sz="1000"/>
          </a:p>
        </p:txBody>
      </p:sp>
      <p:sp>
        <p:nvSpPr>
          <p:cNvPr id="76" name="Text 74"/>
          <p:cNvSpPr/>
          <p:nvPr/>
        </p:nvSpPr>
        <p:spPr>
          <a:xfrm>
            <a:off x="5512408" y="2850904"/>
            <a:ext cx="22743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— 680K hrs + seq2seq implicit LM</a:t>
            </a:r>
            <a:endParaRPr lang="en-US" sz="1000"/>
          </a:p>
        </p:txBody>
      </p:sp>
      <p:sp>
        <p:nvSpPr>
          <p:cNvPr id="78" name="Text 76"/>
          <p:cNvSpPr/>
          <p:nvPr/>
        </p:nvSpPr>
        <p:spPr>
          <a:xfrm>
            <a:off x="338328" y="332841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LoRA-PEFT</a:t>
            </a:r>
            <a:endParaRPr lang="en-US" sz="1100"/>
          </a:p>
        </p:txBody>
      </p:sp>
      <p:sp>
        <p:nvSpPr>
          <p:cNvPr id="79" name="Shape 77"/>
          <p:cNvSpPr/>
          <p:nvPr/>
        </p:nvSpPr>
        <p:spPr>
          <a:xfrm>
            <a:off x="2537910" y="3336175"/>
            <a:ext cx="749808" cy="384048"/>
          </a:xfrm>
          <a:prstGeom prst="rect">
            <a:avLst/>
          </a:prstGeom>
          <a:solidFill>
            <a:srgbClr val="000000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2558971" y="332219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0F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</a:t>
            </a:r>
            <a:endParaRPr lang="en-US" sz="1000"/>
          </a:p>
        </p:txBody>
      </p:sp>
      <p:sp>
        <p:nvSpPr>
          <p:cNvPr id="82" name="Text 80"/>
          <p:cNvSpPr/>
          <p:nvPr/>
        </p:nvSpPr>
        <p:spPr>
          <a:xfrm>
            <a:off x="3315150" y="328955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1000"/>
          </a:p>
        </p:txBody>
      </p:sp>
      <p:sp>
        <p:nvSpPr>
          <p:cNvPr id="84" name="Text 82"/>
          <p:cNvSpPr/>
          <p:nvPr/>
        </p:nvSpPr>
        <p:spPr>
          <a:xfrm>
            <a:off x="4087368" y="3275463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4.7M only</a:t>
            </a:r>
            <a:endParaRPr lang="en-US" sz="1000"/>
          </a:p>
        </p:txBody>
      </p:sp>
      <p:sp>
        <p:nvSpPr>
          <p:cNvPr id="86" name="Text 84"/>
          <p:cNvSpPr/>
          <p:nvPr/>
        </p:nvSpPr>
        <p:spPr>
          <a:xfrm>
            <a:off x="5507836" y="3216402"/>
            <a:ext cx="22648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−98.1% params, +4pp WER, −75% optimizer RAM</a:t>
            </a:r>
            <a:endParaRPr lang="en-US" sz="1000"/>
          </a:p>
        </p:txBody>
      </p:sp>
      <p:sp>
        <p:nvSpPr>
          <p:cNvPr id="87" name="Shape 85"/>
          <p:cNvSpPr/>
          <p:nvPr/>
        </p:nvSpPr>
        <p:spPr>
          <a:xfrm>
            <a:off x="296206" y="3808476"/>
            <a:ext cx="8631936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256032" y="3803904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LoRA Component Ablation — Each enhancement independently significant</a:t>
            </a:r>
            <a:endParaRPr lang="en-US" sz="1100"/>
          </a:p>
        </p:txBody>
      </p:sp>
      <p:sp>
        <p:nvSpPr>
          <p:cNvPr id="89" name="Shape 87"/>
          <p:cNvSpPr/>
          <p:nvPr/>
        </p:nvSpPr>
        <p:spPr>
          <a:xfrm>
            <a:off x="256032" y="4114800"/>
            <a:ext cx="2816352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56032" y="4114800"/>
            <a:ext cx="2816352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47472" y="41879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Denoising</a:t>
            </a:r>
            <a:endParaRPr lang="en-US" sz="1000"/>
          </a:p>
        </p:txBody>
      </p:sp>
      <p:sp>
        <p:nvSpPr>
          <p:cNvPr id="92" name="Shape 90"/>
          <p:cNvSpPr/>
          <p:nvPr/>
        </p:nvSpPr>
        <p:spPr>
          <a:xfrm>
            <a:off x="2048256" y="4187952"/>
            <a:ext cx="91440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2048256" y="4187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950"/>
          </a:p>
        </p:txBody>
      </p:sp>
      <p:sp>
        <p:nvSpPr>
          <p:cNvPr id="94" name="Text 92"/>
          <p:cNvSpPr/>
          <p:nvPr/>
        </p:nvSpPr>
        <p:spPr>
          <a:xfrm>
            <a:off x="347472" y="442569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~200 noisy/misaligned CV examples; largest single gain</a:t>
            </a:r>
            <a:endParaRPr lang="en-US" sz="920"/>
          </a:p>
        </p:txBody>
      </p:sp>
      <p:sp>
        <p:nvSpPr>
          <p:cNvPr id="95" name="Shape 93"/>
          <p:cNvSpPr/>
          <p:nvPr/>
        </p:nvSpPr>
        <p:spPr>
          <a:xfrm>
            <a:off x="3200400" y="4114800"/>
            <a:ext cx="2816352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3200400" y="4114800"/>
            <a:ext cx="2816352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291840" y="41879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SpecAugment</a:t>
            </a:r>
            <a:endParaRPr lang="en-US" sz="1000"/>
          </a:p>
        </p:txBody>
      </p:sp>
      <p:sp>
        <p:nvSpPr>
          <p:cNvPr id="98" name="Shape 96"/>
          <p:cNvSpPr/>
          <p:nvPr/>
        </p:nvSpPr>
        <p:spPr>
          <a:xfrm>
            <a:off x="4992624" y="4187952"/>
            <a:ext cx="91440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4992624" y="4187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0.01</a:t>
            </a:r>
            <a:endParaRPr lang="en-US" sz="950"/>
          </a:p>
        </p:txBody>
      </p:sp>
      <p:sp>
        <p:nvSpPr>
          <p:cNvPr id="100" name="Text 98"/>
          <p:cNvSpPr/>
          <p:nvPr/>
        </p:nvSpPr>
        <p:spPr>
          <a:xfrm>
            <a:off x="3291840" y="442569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Time+frequency masking improves accent robustness</a:t>
            </a:r>
            <a:endParaRPr lang="en-US" sz="920"/>
          </a:p>
        </p:txBody>
      </p:sp>
      <p:sp>
        <p:nvSpPr>
          <p:cNvPr id="101" name="Shape 99"/>
          <p:cNvSpPr/>
          <p:nvPr/>
        </p:nvSpPr>
        <p:spPr>
          <a:xfrm>
            <a:off x="6144768" y="4114800"/>
            <a:ext cx="2816352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6144768" y="4114800"/>
            <a:ext cx="2816352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6236208" y="41879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Speaker Balancing</a:t>
            </a:r>
            <a:endParaRPr lang="en-US" sz="1000"/>
          </a:p>
        </p:txBody>
      </p:sp>
      <p:sp>
        <p:nvSpPr>
          <p:cNvPr id="104" name="Shape 102"/>
          <p:cNvSpPr/>
          <p:nvPr/>
        </p:nvSpPr>
        <p:spPr>
          <a:xfrm>
            <a:off x="7936992" y="4187952"/>
            <a:ext cx="91440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7936992" y="4187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</a:t>
            </a:r>
            <a:endParaRPr lang="en-US" sz="950"/>
          </a:p>
        </p:txBody>
      </p:sp>
      <p:sp>
        <p:nvSpPr>
          <p:cNvPr id="106" name="Text 104"/>
          <p:cNvSpPr/>
          <p:nvPr/>
        </p:nvSpPr>
        <p:spPr>
          <a:xfrm>
            <a:off x="6236208" y="442569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≤50 utterances/speaker prevents dominant-speaker overfitting</a:t>
            </a:r>
            <a:endParaRPr lang="en-US" sz="92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 — Cross-Domain Transfer Analysis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Source-domain retention and forward transfer with Whisper + LoRA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65008" y="49423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8631936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932688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Transfer: LibriSpeech → Common Voice en-AU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56032" y="1261872"/>
            <a:ext cx="208483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261872"/>
            <a:ext cx="2084832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1335024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10.43%</a:t>
            </a:r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256032" y="185623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WER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CV adaptation)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2468880" y="1261872"/>
            <a:ext cx="208483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68880" y="1261872"/>
            <a:ext cx="208483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68880" y="1335024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9.08%</a:t>
            </a:r>
            <a:endParaRPr lang="en-US" sz="2800"/>
          </a:p>
        </p:txBody>
      </p:sp>
      <p:sp>
        <p:nvSpPr>
          <p:cNvPr id="16" name="Text 14"/>
          <p:cNvSpPr/>
          <p:nvPr/>
        </p:nvSpPr>
        <p:spPr>
          <a:xfrm>
            <a:off x="2468880" y="185623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Stage B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Adaptation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4681728" y="1261872"/>
            <a:ext cx="208483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81728" y="1261872"/>
            <a:ext cx="2084832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81728" y="1335024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−13%</a:t>
            </a:r>
            <a:endParaRPr lang="en-US" sz="2800"/>
          </a:p>
        </p:txBody>
      </p:sp>
      <p:sp>
        <p:nvSpPr>
          <p:cNvPr id="20" name="Text 18"/>
          <p:cNvSpPr/>
          <p:nvPr/>
        </p:nvSpPr>
        <p:spPr>
          <a:xfrm>
            <a:off x="4681728" y="185623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WER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(forward)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6894576" y="1261872"/>
            <a:ext cx="208483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94576" y="1261872"/>
            <a:ext cx="2084832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94576" y="1335024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pp</a:t>
            </a:r>
            <a:endParaRPr lang="en-US" sz="2800"/>
          </a:p>
        </p:txBody>
      </p:sp>
      <p:sp>
        <p:nvSpPr>
          <p:cNvPr id="24" name="Text 22"/>
          <p:cNvSpPr/>
          <p:nvPr/>
        </p:nvSpPr>
        <p:spPr>
          <a:xfrm>
            <a:off x="6894576" y="185623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vs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FFT Gap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256032" y="2304288"/>
            <a:ext cx="8631936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6032" y="2304288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Source-Domain Retention: LibriSpeech Test-Clean WER (Post-Adaptation)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256032" y="2633472"/>
            <a:ext cx="2560320" cy="365760"/>
          </a:xfrm>
          <a:prstGeom prst="rect">
            <a:avLst/>
          </a:prstGeom>
          <a:solidFill>
            <a:srgbClr val="0F1F3D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01752" y="263347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816352" y="2633472"/>
            <a:ext cx="1188720" cy="365760"/>
          </a:xfrm>
          <a:prstGeom prst="rect">
            <a:avLst/>
          </a:prstGeom>
          <a:solidFill>
            <a:srgbClr val="0F1F3D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62072" y="2633472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A WER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4005072" y="2633472"/>
            <a:ext cx="1188720" cy="365760"/>
          </a:xfrm>
          <a:prstGeom prst="rect">
            <a:avLst/>
          </a:prstGeom>
          <a:solidFill>
            <a:srgbClr val="0F1F3D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050792" y="2633472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B WER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5193792" y="2633472"/>
            <a:ext cx="914400" cy="365760"/>
          </a:xfrm>
          <a:prstGeom prst="rect">
            <a:avLst/>
          </a:prstGeom>
          <a:solidFill>
            <a:srgbClr val="0F1F3D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239512" y="2633472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ΔWER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6108192" y="2633472"/>
            <a:ext cx="3035808" cy="365760"/>
          </a:xfrm>
          <a:prstGeom prst="rect">
            <a:avLst/>
          </a:prstGeom>
          <a:solidFill>
            <a:srgbClr val="0F1F3D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53912" y="2633472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Assessment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256032" y="3017520"/>
            <a:ext cx="2560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01752" y="30175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Whisper-Small + LoRA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2816352" y="301752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862072" y="30175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6.85%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4005072" y="301752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050792" y="30175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11.14%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5193792" y="301752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239512" y="301752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+4.29 pp</a:t>
            </a:r>
            <a:endParaRPr lang="en-US" sz="1000"/>
          </a:p>
        </p:txBody>
      </p:sp>
      <p:sp>
        <p:nvSpPr>
          <p:cNvPr id="45" name="Shape 43"/>
          <p:cNvSpPr/>
          <p:nvPr/>
        </p:nvSpPr>
        <p:spPr>
          <a:xfrm>
            <a:off x="6108192" y="3017520"/>
            <a:ext cx="30358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153912" y="301752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Minimal forgetting — frozen backbone</a:t>
            </a:r>
            <a:endParaRPr lang="en-US" sz="1000"/>
          </a:p>
        </p:txBody>
      </p:sp>
      <p:sp>
        <p:nvSpPr>
          <p:cNvPr id="47" name="Shape 45"/>
          <p:cNvSpPr/>
          <p:nvPr/>
        </p:nvSpPr>
        <p:spPr>
          <a:xfrm>
            <a:off x="256032" y="3401568"/>
            <a:ext cx="2560320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01752" y="340156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Whisper-Small FFT (two-stage)</a:t>
            </a:r>
            <a:endParaRPr lang="en-US" sz="1000"/>
          </a:p>
        </p:txBody>
      </p:sp>
      <p:sp>
        <p:nvSpPr>
          <p:cNvPr id="49" name="Shape 47"/>
          <p:cNvSpPr/>
          <p:nvPr/>
        </p:nvSpPr>
        <p:spPr>
          <a:xfrm>
            <a:off x="2816352" y="3401568"/>
            <a:ext cx="1188720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862072" y="340156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6.85%</a:t>
            </a:r>
            <a:endParaRPr lang="en-US" sz="1000"/>
          </a:p>
        </p:txBody>
      </p:sp>
      <p:sp>
        <p:nvSpPr>
          <p:cNvPr id="51" name="Shape 49"/>
          <p:cNvSpPr/>
          <p:nvPr/>
        </p:nvSpPr>
        <p:spPr>
          <a:xfrm>
            <a:off x="4005072" y="3401568"/>
            <a:ext cx="1188720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050792" y="340156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1000"/>
          </a:p>
        </p:txBody>
      </p:sp>
      <p:sp>
        <p:nvSpPr>
          <p:cNvPr id="53" name="Shape 51"/>
          <p:cNvSpPr/>
          <p:nvPr/>
        </p:nvSpPr>
        <p:spPr>
          <a:xfrm>
            <a:off x="5193792" y="3401568"/>
            <a:ext cx="914400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239512" y="3401568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+8+ pp</a:t>
            </a:r>
            <a:endParaRPr lang="en-US" sz="1000"/>
          </a:p>
        </p:txBody>
      </p:sp>
      <p:sp>
        <p:nvSpPr>
          <p:cNvPr id="55" name="Shape 53"/>
          <p:cNvSpPr/>
          <p:nvPr/>
        </p:nvSpPr>
        <p:spPr>
          <a:xfrm>
            <a:off x="6108192" y="3401568"/>
            <a:ext cx="3035808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153912" y="340156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Catastrophic forgetting risk without LoRA</a:t>
            </a:r>
            <a:endParaRPr lang="en-US" sz="1000"/>
          </a:p>
        </p:txBody>
      </p:sp>
      <p:sp>
        <p:nvSpPr>
          <p:cNvPr id="57" name="Shape 55"/>
          <p:cNvSpPr/>
          <p:nvPr/>
        </p:nvSpPr>
        <p:spPr>
          <a:xfrm>
            <a:off x="256032" y="3785616"/>
            <a:ext cx="2560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01752" y="378561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XLS-R 300M (two-stage)</a:t>
            </a:r>
            <a:endParaRPr lang="en-US" sz="1000"/>
          </a:p>
        </p:txBody>
      </p:sp>
      <p:sp>
        <p:nvSpPr>
          <p:cNvPr id="59" name="Shape 57"/>
          <p:cNvSpPr/>
          <p:nvPr/>
        </p:nvSpPr>
        <p:spPr>
          <a:xfrm>
            <a:off x="2816352" y="3785616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862072" y="3785616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/>
          </a:p>
        </p:txBody>
      </p:sp>
      <p:sp>
        <p:nvSpPr>
          <p:cNvPr id="61" name="Shape 59"/>
          <p:cNvSpPr/>
          <p:nvPr/>
        </p:nvSpPr>
        <p:spPr>
          <a:xfrm>
            <a:off x="4005072" y="3785616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050792" y="3785616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000"/>
          </a:p>
        </p:txBody>
      </p:sp>
      <p:sp>
        <p:nvSpPr>
          <p:cNvPr id="63" name="Shape 61"/>
          <p:cNvSpPr/>
          <p:nvPr/>
        </p:nvSpPr>
        <p:spPr>
          <a:xfrm>
            <a:off x="5193792" y="378561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239512" y="3785616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pp</a:t>
            </a:r>
            <a:endParaRPr lang="en-US" sz="1000"/>
          </a:p>
        </p:txBody>
      </p:sp>
      <p:sp>
        <p:nvSpPr>
          <p:cNvPr id="65" name="Shape 63"/>
          <p:cNvSpPr/>
          <p:nvPr/>
        </p:nvSpPr>
        <p:spPr>
          <a:xfrm>
            <a:off x="6108192" y="3785616"/>
            <a:ext cx="30358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153912" y="3785616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LS bias impedes accent adaptation</a:t>
            </a:r>
            <a:endParaRPr lang="en-US" sz="1000"/>
          </a:p>
        </p:txBody>
      </p:sp>
      <p:sp>
        <p:nvSpPr>
          <p:cNvPr id="67" name="Shape 65"/>
          <p:cNvSpPr/>
          <p:nvPr/>
        </p:nvSpPr>
        <p:spPr>
          <a:xfrm>
            <a:off x="256032" y="4187952"/>
            <a:ext cx="8631936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84048" y="4224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LoRA Mitigates Catastrophic Forgetting:</a:t>
            </a:r>
            <a:endParaRPr lang="en-US" sz="1100"/>
          </a:p>
        </p:txBody>
      </p:sp>
      <p:sp>
        <p:nvSpPr>
          <p:cNvPr id="69" name="Text 67"/>
          <p:cNvSpPr/>
          <p:nvPr/>
        </p:nvSpPr>
        <p:spPr>
          <a:xfrm>
            <a:off x="384048" y="44805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Backbone weights (W₀) remain completely frozen — only 4.7M adapter parameters are trained</a:t>
            </a:r>
            <a:endParaRPr lang="en-US" sz="950"/>
          </a:p>
        </p:txBody>
      </p:sp>
      <p:sp>
        <p:nvSpPr>
          <p:cNvPr id="70" name="Text 68"/>
          <p:cNvSpPr/>
          <p:nvPr/>
        </p:nvSpPr>
        <p:spPr>
          <a:xfrm>
            <a:off x="384048" y="46451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Low-rank update BA has limited expressive capacity, preventing large drift from source-domain representations</a:t>
            </a:r>
            <a:endParaRPr lang="en-US" sz="950"/>
          </a:p>
        </p:txBody>
      </p:sp>
      <p:sp>
        <p:nvSpPr>
          <p:cNvPr id="71" name="Text 69"/>
          <p:cNvSpPr/>
          <p:nvPr/>
        </p:nvSpPr>
        <p:spPr>
          <a:xfrm>
            <a:off x="384048" y="480974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Result: only +4.29 pp LibriSpeech WER degradation after full Australian accent adaptation</a:t>
            </a:r>
            <a:endParaRPr lang="en-US" sz="9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 — Error Analysis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randomly sampled Common Voice predictions from full LoRA model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8631936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932688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Type — Distribution &amp; Implications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256032" y="1243584"/>
            <a:ext cx="23774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261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Homophones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48640" y="14996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"there" → "their"</a:t>
            </a:r>
            <a:endParaRPr lang="en-US" sz="920"/>
          </a:p>
        </p:txBody>
      </p:sp>
      <p:sp>
        <p:nvSpPr>
          <p:cNvPr id="12" name="Shape 10"/>
          <p:cNvSpPr/>
          <p:nvPr/>
        </p:nvSpPr>
        <p:spPr>
          <a:xfrm>
            <a:off x="2450592" y="1371600"/>
            <a:ext cx="2187245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37837" y="1371600"/>
            <a:ext cx="190195" cy="20116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01184" y="135331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5358384" y="1280160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 integration could yield further WER gains beyond acoustic modelling alone.</a:t>
            </a:r>
            <a:endParaRPr lang="en-US" sz="920"/>
          </a:p>
        </p:txBody>
      </p:sp>
      <p:sp>
        <p:nvSpPr>
          <p:cNvPr id="16" name="Shape 14"/>
          <p:cNvSpPr/>
          <p:nvPr/>
        </p:nvSpPr>
        <p:spPr>
          <a:xfrm>
            <a:off x="256032" y="1755648"/>
            <a:ext cx="23774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Contractions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548640" y="2011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"cant" ↔ "can't"</a:t>
            </a:r>
            <a:endParaRPr lang="en-US" sz="920"/>
          </a:p>
        </p:txBody>
      </p:sp>
      <p:sp>
        <p:nvSpPr>
          <p:cNvPr id="19" name="Shape 17"/>
          <p:cNvSpPr/>
          <p:nvPr/>
        </p:nvSpPr>
        <p:spPr>
          <a:xfrm>
            <a:off x="2450592" y="1883664"/>
            <a:ext cx="1711757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62349" y="1883664"/>
            <a:ext cx="665683" cy="20116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01184" y="186537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5358384" y="1792224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metric sensitivity to surface-form variation; normalisation would reduce this artefact.</a:t>
            </a:r>
            <a:endParaRPr lang="en-US" sz="920"/>
          </a:p>
        </p:txBody>
      </p:sp>
      <p:sp>
        <p:nvSpPr>
          <p:cNvPr id="23" name="Shape 21"/>
          <p:cNvSpPr/>
          <p:nvPr/>
        </p:nvSpPr>
        <p:spPr>
          <a:xfrm>
            <a:off x="256032" y="2267712"/>
            <a:ext cx="237744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Numeric / alphanumeric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548640" y="2523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"twenty three" ↔ "23"</a:t>
            </a:r>
            <a:endParaRPr lang="en-US" sz="920"/>
          </a:p>
        </p:txBody>
      </p:sp>
      <p:sp>
        <p:nvSpPr>
          <p:cNvPr id="26" name="Shape 24"/>
          <p:cNvSpPr/>
          <p:nvPr/>
        </p:nvSpPr>
        <p:spPr>
          <a:xfrm>
            <a:off x="2450592" y="2395728"/>
            <a:ext cx="1521562" cy="2011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972154" y="2395728"/>
            <a:ext cx="855878" cy="20116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01184" y="237744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5358384" y="2304288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normalisation post-processing (numeral expansion/contraction) can eliminate this category.</a:t>
            </a:r>
            <a:endParaRPr lang="en-US" sz="920"/>
          </a:p>
        </p:txBody>
      </p:sp>
      <p:sp>
        <p:nvSpPr>
          <p:cNvPr id="30" name="Shape 28"/>
          <p:cNvSpPr/>
          <p:nvPr/>
        </p:nvSpPr>
        <p:spPr>
          <a:xfrm>
            <a:off x="256032" y="2779776"/>
            <a:ext cx="237744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2798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 noise</a:t>
            </a:r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548640" y="30358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words</a:t>
            </a:r>
            <a:endParaRPr lang="en-US" sz="920"/>
          </a:p>
        </p:txBody>
      </p:sp>
      <p:sp>
        <p:nvSpPr>
          <p:cNvPr id="33" name="Shape 31"/>
          <p:cNvSpPr/>
          <p:nvPr/>
        </p:nvSpPr>
        <p:spPr>
          <a:xfrm>
            <a:off x="2450592" y="2907792"/>
            <a:ext cx="1331366" cy="2011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781958" y="2907792"/>
            <a:ext cx="1046074" cy="20116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01184" y="288950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5358384" y="2816352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Motivates speech enhancement preprocessing or noise-robust training augmentation.</a:t>
            </a:r>
            <a:endParaRPr lang="en-US" sz="920"/>
          </a:p>
        </p:txBody>
      </p:sp>
      <p:sp>
        <p:nvSpPr>
          <p:cNvPr id="37" name="Shape 35"/>
          <p:cNvSpPr/>
          <p:nvPr/>
        </p:nvSpPr>
        <p:spPr>
          <a:xfrm>
            <a:off x="256032" y="3291840"/>
            <a:ext cx="23774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" y="3310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Australian accent shift</a:t>
            </a:r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548640" y="3547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"day" → "die"</a:t>
            </a:r>
            <a:endParaRPr lang="en-US" sz="920"/>
          </a:p>
        </p:txBody>
      </p:sp>
      <p:sp>
        <p:nvSpPr>
          <p:cNvPr id="40" name="Shape 38"/>
          <p:cNvSpPr/>
          <p:nvPr/>
        </p:nvSpPr>
        <p:spPr>
          <a:xfrm>
            <a:off x="2450592" y="3419856"/>
            <a:ext cx="1141171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591763" y="3419856"/>
            <a:ext cx="1236269" cy="20116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01184" y="340156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5358384" y="3328416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Accent-specific data augmentation or adapter fine-tuning on vowel-shifted variants needed.</a:t>
            </a:r>
            <a:endParaRPr lang="en-US" sz="920"/>
          </a:p>
        </p:txBody>
      </p:sp>
      <p:sp>
        <p:nvSpPr>
          <p:cNvPr id="44" name="Shape 42"/>
          <p:cNvSpPr/>
          <p:nvPr/>
        </p:nvSpPr>
        <p:spPr>
          <a:xfrm>
            <a:off x="256032" y="3803904"/>
            <a:ext cx="23774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8640" y="3822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speech</a:t>
            </a:r>
            <a:endParaRPr lang="en-US" sz="1050"/>
          </a:p>
        </p:txBody>
      </p:sp>
      <p:sp>
        <p:nvSpPr>
          <p:cNvPr id="46" name="Text 44"/>
          <p:cNvSpPr/>
          <p:nvPr/>
        </p:nvSpPr>
        <p:spPr>
          <a:xfrm>
            <a:off x="548640" y="40599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final consonants</a:t>
            </a:r>
            <a:endParaRPr lang="en-US" sz="920"/>
          </a:p>
        </p:txBody>
      </p:sp>
      <p:sp>
        <p:nvSpPr>
          <p:cNvPr id="47" name="Shape 45"/>
          <p:cNvSpPr/>
          <p:nvPr/>
        </p:nvSpPr>
        <p:spPr>
          <a:xfrm>
            <a:off x="2450592" y="3931920"/>
            <a:ext cx="950976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401568" y="3931920"/>
            <a:ext cx="1426464" cy="20116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901184" y="391363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/>
          </a:p>
        </p:txBody>
      </p:sp>
      <p:sp>
        <p:nvSpPr>
          <p:cNvPr id="50" name="Text 48"/>
          <p:cNvSpPr/>
          <p:nvPr/>
        </p:nvSpPr>
        <p:spPr>
          <a:xfrm>
            <a:off x="5358384" y="3840480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learning or speed-perturbation augmentation would improve robustness.</a:t>
            </a:r>
            <a:endParaRPr lang="en-US" sz="920"/>
          </a:p>
        </p:txBody>
      </p:sp>
      <p:sp>
        <p:nvSpPr>
          <p:cNvPr id="51" name="Shape 49"/>
          <p:cNvSpPr/>
          <p:nvPr/>
        </p:nvSpPr>
        <p:spPr>
          <a:xfrm>
            <a:off x="256032" y="4315968"/>
            <a:ext cx="237744" cy="4572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4864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Named entities</a:t>
            </a:r>
            <a:endParaRPr lang="en-US" sz="1050"/>
          </a:p>
        </p:txBody>
      </p:sp>
      <p:sp>
        <p:nvSpPr>
          <p:cNvPr id="53" name="Text 51"/>
          <p:cNvSpPr/>
          <p:nvPr/>
        </p:nvSpPr>
        <p:spPr>
          <a:xfrm>
            <a:off x="548640" y="4572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 transcription</a:t>
            </a:r>
            <a:endParaRPr lang="en-US" sz="920"/>
          </a:p>
        </p:txBody>
      </p:sp>
      <p:sp>
        <p:nvSpPr>
          <p:cNvPr id="54" name="Shape 52"/>
          <p:cNvSpPr/>
          <p:nvPr/>
        </p:nvSpPr>
        <p:spPr>
          <a:xfrm>
            <a:off x="2450592" y="4443984"/>
            <a:ext cx="665683" cy="20116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116275" y="4443984"/>
            <a:ext cx="1711757" cy="20116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901184" y="442569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100"/>
          </a:p>
        </p:txBody>
      </p:sp>
      <p:sp>
        <p:nvSpPr>
          <p:cNvPr id="57" name="Text 55"/>
          <p:cNvSpPr/>
          <p:nvPr/>
        </p:nvSpPr>
        <p:spPr>
          <a:xfrm>
            <a:off x="5358384" y="4352544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named-entity pronunciation lexicon integration would address this category.</a:t>
            </a:r>
            <a:endParaRPr lang="en-US" sz="920"/>
          </a:p>
        </p:txBody>
      </p:sp>
      <p:sp>
        <p:nvSpPr>
          <p:cNvPr id="58" name="Shape 56"/>
          <p:cNvSpPr/>
          <p:nvPr/>
        </p:nvSpPr>
        <p:spPr>
          <a:xfrm>
            <a:off x="256032" y="4828032"/>
            <a:ext cx="8213411" cy="219456"/>
          </a:xfrm>
          <a:prstGeom prst="rect">
            <a:avLst/>
          </a:prstGeom>
          <a:solidFill>
            <a:srgbClr val="F4F7FB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47472" y="484632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Contractions (18%) + Numerics (16%) = 34% of errors are metric artefacts addressable by post-processing normalisation, not model improvements.</a:t>
            </a:r>
            <a:endParaRPr lang="en-US" sz="92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Software Solution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Streamlit-based real-time ASR inference application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457200" cy="6035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93268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1800"/>
          </a:p>
        </p:txBody>
      </p:sp>
      <p:sp>
        <p:nvSpPr>
          <p:cNvPr id="9" name="Shape 7"/>
          <p:cNvSpPr/>
          <p:nvPr/>
        </p:nvSpPr>
        <p:spPr>
          <a:xfrm>
            <a:off x="768096" y="932688"/>
            <a:ext cx="4754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8096" y="932688"/>
            <a:ext cx="4754880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7824" y="10058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Input Modes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877824" y="12435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(.wav/.mp3/.flac) and live microphone recording via browser audio capture. Supports batch file processing for evaluation runs.</a:t>
            </a:r>
            <a:endParaRPr lang="en-US" sz="980"/>
          </a:p>
        </p:txBody>
      </p:sp>
      <p:sp>
        <p:nvSpPr>
          <p:cNvPr id="13" name="Shape 11"/>
          <p:cNvSpPr/>
          <p:nvPr/>
        </p:nvSpPr>
        <p:spPr>
          <a:xfrm>
            <a:off x="256032" y="1682496"/>
            <a:ext cx="457200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032" y="168249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/>
          </a:p>
        </p:txBody>
      </p:sp>
      <p:sp>
        <p:nvSpPr>
          <p:cNvPr id="15" name="Shape 13"/>
          <p:cNvSpPr/>
          <p:nvPr/>
        </p:nvSpPr>
        <p:spPr>
          <a:xfrm>
            <a:off x="768096" y="1682496"/>
            <a:ext cx="4754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8096" y="1682496"/>
            <a:ext cx="47548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77824" y="17556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WER/CER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877824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JiWER for immediate word and character error rate computation against optional reference transcripts. Results displayed side-by-side.</a:t>
            </a:r>
            <a:endParaRPr lang="en-US" sz="980"/>
          </a:p>
        </p:txBody>
      </p:sp>
      <p:sp>
        <p:nvSpPr>
          <p:cNvPr id="19" name="Shape 17"/>
          <p:cNvSpPr/>
          <p:nvPr/>
        </p:nvSpPr>
        <p:spPr>
          <a:xfrm>
            <a:off x="256032" y="2432304"/>
            <a:ext cx="457200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6032" y="243230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/>
          </a:p>
        </p:txBody>
      </p:sp>
      <p:sp>
        <p:nvSpPr>
          <p:cNvPr id="21" name="Shape 19"/>
          <p:cNvSpPr/>
          <p:nvPr/>
        </p:nvSpPr>
        <p:spPr>
          <a:xfrm>
            <a:off x="768096" y="2432304"/>
            <a:ext cx="4754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8096" y="2432304"/>
            <a:ext cx="47548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77824" y="25054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LoRA Weight Fusion</a:t>
            </a:r>
            <a:endParaRPr lang="en-US" sz="1150"/>
          </a:p>
        </p:txBody>
      </p:sp>
      <p:sp>
        <p:nvSpPr>
          <p:cNvPr id="24" name="Text 22"/>
          <p:cNvSpPr/>
          <p:nvPr/>
        </p:nvSpPr>
        <p:spPr>
          <a:xfrm>
            <a:off x="877824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merged via merge_and_unload() producing a standard Whisper model checkpoint. Zero runtime adapter overhead — native inference speed.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256032" y="3182112"/>
            <a:ext cx="457200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6032" y="318211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800"/>
          </a:p>
        </p:txBody>
      </p:sp>
      <p:sp>
        <p:nvSpPr>
          <p:cNvPr id="27" name="Shape 25"/>
          <p:cNvSpPr/>
          <p:nvPr/>
        </p:nvSpPr>
        <p:spPr>
          <a:xfrm>
            <a:off x="768096" y="3182112"/>
            <a:ext cx="4754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68096" y="3182112"/>
            <a:ext cx="475488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77824" y="32552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 Support</a:t>
            </a:r>
            <a:endParaRPr lang="en-US" sz="1150"/>
          </a:p>
        </p:txBody>
      </p:sp>
      <p:sp>
        <p:nvSpPr>
          <p:cNvPr id="30" name="Text 28"/>
          <p:cNvSpPr/>
          <p:nvPr/>
        </p:nvSpPr>
        <p:spPr>
          <a:xfrm>
            <a:off x="877824" y="3493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Omnilingual adapter enables transcription across 7 languages without language switching. Script-aware output rendering for Indic scripts.</a:t>
            </a:r>
            <a:endParaRPr lang="en-US" sz="980"/>
          </a:p>
        </p:txBody>
      </p:sp>
      <p:sp>
        <p:nvSpPr>
          <p:cNvPr id="31" name="Shape 29"/>
          <p:cNvSpPr/>
          <p:nvPr/>
        </p:nvSpPr>
        <p:spPr>
          <a:xfrm>
            <a:off x="256032" y="3931920"/>
            <a:ext cx="457200" cy="6035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6032" y="393192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800"/>
          </a:p>
        </p:txBody>
      </p:sp>
      <p:sp>
        <p:nvSpPr>
          <p:cNvPr id="33" name="Shape 31"/>
          <p:cNvSpPr/>
          <p:nvPr/>
        </p:nvSpPr>
        <p:spPr>
          <a:xfrm>
            <a:off x="768096" y="3931920"/>
            <a:ext cx="4754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68096" y="3931920"/>
            <a:ext cx="475488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77824" y="40050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Resource-Efficient</a:t>
            </a:r>
            <a:endParaRPr lang="en-US" sz="1150"/>
          </a:p>
        </p:txBody>
      </p:sp>
      <p:sp>
        <p:nvSpPr>
          <p:cNvPr id="36" name="Text 34"/>
          <p:cNvSpPr/>
          <p:nvPr/>
        </p:nvSpPr>
        <p:spPr>
          <a:xfrm>
            <a:off x="877824" y="4242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P100 16 GB or CPU-only mode. BitsAndBytes 8-bit inference retains accuracy with ~50% memory reduction vs FP32.</a:t>
            </a:r>
            <a:endParaRPr lang="en-US" sz="980"/>
          </a:p>
        </p:txBody>
      </p:sp>
      <p:sp>
        <p:nvSpPr>
          <p:cNvPr id="37" name="Shape 35"/>
          <p:cNvSpPr/>
          <p:nvPr/>
        </p:nvSpPr>
        <p:spPr>
          <a:xfrm>
            <a:off x="5705856" y="932688"/>
            <a:ext cx="3182112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705856" y="93268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1150"/>
          </a:p>
        </p:txBody>
      </p:sp>
      <p:sp>
        <p:nvSpPr>
          <p:cNvPr id="39" name="Shape 37"/>
          <p:cNvSpPr/>
          <p:nvPr/>
        </p:nvSpPr>
        <p:spPr>
          <a:xfrm>
            <a:off x="5705856" y="1243584"/>
            <a:ext cx="1517904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705856" y="1243584"/>
            <a:ext cx="1517904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769864" y="131673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🖼️ Streamlit</a:t>
            </a:r>
            <a:endParaRPr lang="en-US" sz="1000"/>
          </a:p>
        </p:txBody>
      </p:sp>
      <p:sp>
        <p:nvSpPr>
          <p:cNvPr id="42" name="Text 40"/>
          <p:cNvSpPr/>
          <p:nvPr/>
        </p:nvSpPr>
        <p:spPr>
          <a:xfrm>
            <a:off x="5769864" y="157276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&amp; mic capture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7333488" y="1243584"/>
            <a:ext cx="1517904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333488" y="1243584"/>
            <a:ext cx="1517904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397496" y="131673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🤗 HuggingFace</a:t>
            </a:r>
            <a:endParaRPr lang="en-US" sz="1000"/>
          </a:p>
        </p:txBody>
      </p:sp>
      <p:sp>
        <p:nvSpPr>
          <p:cNvPr id="46" name="Text 44"/>
          <p:cNvSpPr/>
          <p:nvPr/>
        </p:nvSpPr>
        <p:spPr>
          <a:xfrm>
            <a:off x="7397496" y="157276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APIs</a:t>
            </a:r>
            <a:endParaRPr lang="en-US" sz="900"/>
          </a:p>
        </p:txBody>
      </p:sp>
      <p:sp>
        <p:nvSpPr>
          <p:cNvPr id="47" name="Shape 45"/>
          <p:cNvSpPr/>
          <p:nvPr/>
        </p:nvSpPr>
        <p:spPr>
          <a:xfrm>
            <a:off x="5705856" y="1993392"/>
            <a:ext cx="1517904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705856" y="1993392"/>
            <a:ext cx="1517904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769864" y="2066544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PEFT (LoRA)</a:t>
            </a:r>
            <a:endParaRPr lang="en-US" sz="1000"/>
          </a:p>
        </p:txBody>
      </p:sp>
      <p:sp>
        <p:nvSpPr>
          <p:cNvPr id="50" name="Text 48"/>
          <p:cNvSpPr/>
          <p:nvPr/>
        </p:nvSpPr>
        <p:spPr>
          <a:xfrm>
            <a:off x="5769864" y="232257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merge</a:t>
            </a:r>
            <a:endParaRPr lang="en-US" sz="900"/>
          </a:p>
        </p:txBody>
      </p:sp>
      <p:sp>
        <p:nvSpPr>
          <p:cNvPr id="51" name="Shape 49"/>
          <p:cNvSpPr/>
          <p:nvPr/>
        </p:nvSpPr>
        <p:spPr>
          <a:xfrm>
            <a:off x="7333488" y="1993392"/>
            <a:ext cx="1517904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333488" y="1993392"/>
            <a:ext cx="1517904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397496" y="2066544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📏 JiWER</a:t>
            </a:r>
            <a:endParaRPr lang="en-US" sz="1000"/>
          </a:p>
        </p:txBody>
      </p:sp>
      <p:sp>
        <p:nvSpPr>
          <p:cNvPr id="54" name="Text 52"/>
          <p:cNvSpPr/>
          <p:nvPr/>
        </p:nvSpPr>
        <p:spPr>
          <a:xfrm>
            <a:off x="7397496" y="232257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WER/CER metrics</a:t>
            </a:r>
            <a:endParaRPr lang="en-US" sz="900"/>
          </a:p>
        </p:txBody>
      </p:sp>
      <p:sp>
        <p:nvSpPr>
          <p:cNvPr id="55" name="Shape 53"/>
          <p:cNvSpPr/>
          <p:nvPr/>
        </p:nvSpPr>
        <p:spPr>
          <a:xfrm>
            <a:off x="5705856" y="2743200"/>
            <a:ext cx="1517904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705856" y="2743200"/>
            <a:ext cx="1517904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769864" y="281635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8️⃣ BitsAndBytes</a:t>
            </a:r>
            <a:endParaRPr lang="en-US" sz="1000"/>
          </a:p>
        </p:txBody>
      </p:sp>
      <p:sp>
        <p:nvSpPr>
          <p:cNvPr id="58" name="Text 56"/>
          <p:cNvSpPr/>
          <p:nvPr/>
        </p:nvSpPr>
        <p:spPr>
          <a:xfrm>
            <a:off x="5769864" y="307238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inference</a:t>
            </a:r>
            <a:endParaRPr lang="en-US" sz="900"/>
          </a:p>
        </p:txBody>
      </p:sp>
      <p:sp>
        <p:nvSpPr>
          <p:cNvPr id="59" name="Shape 57"/>
          <p:cNvSpPr/>
          <p:nvPr/>
        </p:nvSpPr>
        <p:spPr>
          <a:xfrm>
            <a:off x="7333488" y="2743200"/>
            <a:ext cx="1517904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333488" y="2743200"/>
            <a:ext cx="1517904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397496" y="281635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🔊 torchaudio</a:t>
            </a:r>
            <a:endParaRPr lang="en-US" sz="1000"/>
          </a:p>
        </p:txBody>
      </p:sp>
      <p:sp>
        <p:nvSpPr>
          <p:cNvPr id="62" name="Text 60"/>
          <p:cNvSpPr/>
          <p:nvPr/>
        </p:nvSpPr>
        <p:spPr>
          <a:xfrm>
            <a:off x="7397496" y="307238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preprocessing</a:t>
            </a:r>
            <a:endParaRPr lang="en-US" sz="900"/>
          </a:p>
        </p:txBody>
      </p:sp>
      <p:sp>
        <p:nvSpPr>
          <p:cNvPr id="63" name="Shape 61"/>
          <p:cNvSpPr/>
          <p:nvPr/>
        </p:nvSpPr>
        <p:spPr>
          <a:xfrm>
            <a:off x="5705856" y="3493008"/>
            <a:ext cx="1517904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705856" y="3493008"/>
            <a:ext cx="1517904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769864" y="356616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NVIDIA NeMo</a:t>
            </a:r>
            <a:endParaRPr lang="en-US" sz="1000"/>
          </a:p>
        </p:txBody>
      </p:sp>
      <p:sp>
        <p:nvSpPr>
          <p:cNvPr id="66" name="Text 64"/>
          <p:cNvSpPr/>
          <p:nvPr/>
        </p:nvSpPr>
        <p:spPr>
          <a:xfrm>
            <a:off x="5769864" y="382219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Conformer training</a:t>
            </a:r>
            <a:endParaRPr lang="en-US" sz="900"/>
          </a:p>
        </p:txBody>
      </p:sp>
      <p:sp>
        <p:nvSpPr>
          <p:cNvPr id="67" name="Shape 65"/>
          <p:cNvSpPr/>
          <p:nvPr/>
        </p:nvSpPr>
        <p:spPr>
          <a:xfrm>
            <a:off x="7333488" y="3493008"/>
            <a:ext cx="1517904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333488" y="3493008"/>
            <a:ext cx="1517904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397496" y="356616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☁️ Kaggle P100</a:t>
            </a:r>
            <a:endParaRPr lang="en-US" sz="1000"/>
          </a:p>
        </p:txBody>
      </p:sp>
      <p:sp>
        <p:nvSpPr>
          <p:cNvPr id="70" name="Text 68"/>
          <p:cNvSpPr/>
          <p:nvPr/>
        </p:nvSpPr>
        <p:spPr>
          <a:xfrm>
            <a:off x="7397496" y="382219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hardware</a:t>
            </a:r>
            <a:endParaRPr lang="en-US"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key findings from this comparative study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45720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93268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/>
          </a:p>
        </p:txBody>
      </p:sp>
      <p:sp>
        <p:nvSpPr>
          <p:cNvPr id="9" name="Shape 7"/>
          <p:cNvSpPr/>
          <p:nvPr/>
        </p:nvSpPr>
        <p:spPr>
          <a:xfrm>
            <a:off x="768096" y="932688"/>
            <a:ext cx="811987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8096" y="932688"/>
            <a:ext cx="8119872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7824" y="996696"/>
            <a:ext cx="7918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Pretraining Scale Dominates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877824" y="1243584"/>
            <a:ext cx="7918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from scratch yields WER = 0.36–0.54. Large-scale pretrained models achieve WER = 0.09–0.14. Pretraining scale — not architecture alone — is the primary driver of cross-domain ASR performance on Australian English.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56032" y="1737360"/>
            <a:ext cx="457200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032" y="17373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/>
          </a:p>
        </p:txBody>
      </p:sp>
      <p:sp>
        <p:nvSpPr>
          <p:cNvPr id="15" name="Shape 13"/>
          <p:cNvSpPr/>
          <p:nvPr/>
        </p:nvSpPr>
        <p:spPr>
          <a:xfrm>
            <a:off x="768096" y="1737360"/>
            <a:ext cx="811987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8096" y="1737360"/>
            <a:ext cx="8119872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77824" y="1801368"/>
            <a:ext cx="7918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Whisper's Seq2Seq Objective is Advantageous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877824" y="2048256"/>
            <a:ext cx="7918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autoregressive decoder enables partial word recovery under accent variation by leveraging learned language model probability. Whisper-Small (WER=0.09) outperforms all CTC-based models of similar size. Zero-shot gap to FFT = only 1 pp.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542032"/>
            <a:ext cx="4572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6032" y="25420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/>
          </a:p>
        </p:txBody>
      </p:sp>
      <p:sp>
        <p:nvSpPr>
          <p:cNvPr id="21" name="Shape 19"/>
          <p:cNvSpPr/>
          <p:nvPr/>
        </p:nvSpPr>
        <p:spPr>
          <a:xfrm>
            <a:off x="768096" y="2542032"/>
            <a:ext cx="811987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8096" y="2542032"/>
            <a:ext cx="811987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77824" y="2606040"/>
            <a:ext cx="7918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LoRA-PEFT is Practically Efficient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877824" y="2852928"/>
            <a:ext cx="7918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only 1.9% of FFT trainable parameters (4.7M vs 244M), LoRA achieves WER=0.13 — +4pp above full fine-tuning — with 75% optimizer-memory savings and only +4.29 pp source-domain degradation. Frozen backbone mitigates catastrophic forgetting.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256032" y="3346704"/>
            <a:ext cx="4572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6032" y="334670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/>
          </a:p>
        </p:txBody>
      </p:sp>
      <p:sp>
        <p:nvSpPr>
          <p:cNvPr id="27" name="Shape 25"/>
          <p:cNvSpPr/>
          <p:nvPr/>
        </p:nvSpPr>
        <p:spPr>
          <a:xfrm>
            <a:off x="768096" y="3346704"/>
            <a:ext cx="811987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68096" y="3346704"/>
            <a:ext cx="8119872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77824" y="3410712"/>
            <a:ext cx="7918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Omnilingual LoRA Generalises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877824" y="3657600"/>
            <a:ext cx="7918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r=64 adapter achieves sub-5% CER across seven typologically diverse languages — including low-resource Indic scripts (Marathi/Bengali: originally 81% WER baseline, −76.3 pp reduction). Weight fusion retains native inference speed.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256032" y="4151376"/>
            <a:ext cx="4572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6032" y="41513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/>
          </a:p>
        </p:txBody>
      </p:sp>
      <p:sp>
        <p:nvSpPr>
          <p:cNvPr id="33" name="Shape 31"/>
          <p:cNvSpPr/>
          <p:nvPr/>
        </p:nvSpPr>
        <p:spPr>
          <a:xfrm>
            <a:off x="768096" y="4151376"/>
            <a:ext cx="811987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68096" y="4151376"/>
            <a:ext cx="8119872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77824" y="4215384"/>
            <a:ext cx="7918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Shift is Quantifiable and Addressable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877824" y="4462272"/>
            <a:ext cx="7918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18.97% token-level OOV gap, Gini=0.81 speaker imbalance, and speaking-rate mismatch motivate the two-stage protocol, reducing CV WER by 13% relative. Each enhancement (denoising, SpecAugment, speaker balancing) is independently statistically significant (p&lt;0.05).</a:t>
            </a:r>
            <a:endParaRPr lang="en-US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412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Work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47472" y="521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constraints and next research directions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4224528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932688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Limitations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663440" y="932688"/>
            <a:ext cx="422452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932688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Future Directions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261872"/>
            <a:ext cx="219456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" y="1261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530352" y="12618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 Stage B corpus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530352" y="14813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~2,000 CV-AU utterances used for accent adaptation — limits vocabulary and accent-variant coverage. Full CV-AU training may yield further WER gains.</a:t>
            </a:r>
            <a:endParaRPr lang="en-US" sz="920"/>
          </a:p>
        </p:txBody>
      </p:sp>
      <p:sp>
        <p:nvSpPr>
          <p:cNvPr id="15" name="Shape 13"/>
          <p:cNvSpPr/>
          <p:nvPr/>
        </p:nvSpPr>
        <p:spPr>
          <a:xfrm>
            <a:off x="256032" y="1984248"/>
            <a:ext cx="219456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" y="1984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530352" y="19842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Token-level OOV gap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530352" y="220370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18.97% word-level OOV limits cross-domain lexical coverage. Australian slang, proper nouns, and technical vocabulary remain problematic for the model.</a:t>
            </a:r>
            <a:endParaRPr lang="en-US" sz="920"/>
          </a:p>
        </p:txBody>
      </p:sp>
      <p:sp>
        <p:nvSpPr>
          <p:cNvPr id="19" name="Shape 17"/>
          <p:cNvSpPr/>
          <p:nvPr/>
        </p:nvSpPr>
        <p:spPr>
          <a:xfrm>
            <a:off x="256032" y="2706624"/>
            <a:ext cx="219456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6032" y="2706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530352" y="27066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 session constraints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530352" y="29260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Kaggle's 12-hour P100 sessions precluded full convergence in several experiments, particularly for larger XLS-R runs requiring gradient accumulation.</a:t>
            </a:r>
            <a:endParaRPr lang="en-US" sz="920"/>
          </a:p>
        </p:txBody>
      </p:sp>
      <p:sp>
        <p:nvSpPr>
          <p:cNvPr id="23" name="Shape 21"/>
          <p:cNvSpPr/>
          <p:nvPr/>
        </p:nvSpPr>
        <p:spPr>
          <a:xfrm>
            <a:off x="256032" y="3429000"/>
            <a:ext cx="219456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6032" y="3429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530352" y="34290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streaming support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530352" y="364845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Whisper's fixed 30-second context window prevents real-time streaming deployment — critical for live captioning, broadcasting, and telephony applications.</a:t>
            </a:r>
            <a:endParaRPr lang="en-US" sz="920"/>
          </a:p>
        </p:txBody>
      </p:sp>
      <p:sp>
        <p:nvSpPr>
          <p:cNvPr id="27" name="Shape 25"/>
          <p:cNvSpPr/>
          <p:nvPr/>
        </p:nvSpPr>
        <p:spPr>
          <a:xfrm>
            <a:off x="256032" y="4151376"/>
            <a:ext cx="219456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6032" y="41513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530352" y="4151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fairness evaluation</a:t>
            </a:r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530352" y="43708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Voice gender metadata 26.8% unknown; age/dialect subgroup fairness analysis across the 17.4% female speaker subset was not performed.</a:t>
            </a:r>
            <a:endParaRPr lang="en-US" sz="920"/>
          </a:p>
        </p:txBody>
      </p:sp>
      <p:sp>
        <p:nvSpPr>
          <p:cNvPr id="31" name="Shape 29"/>
          <p:cNvSpPr/>
          <p:nvPr/>
        </p:nvSpPr>
        <p:spPr>
          <a:xfrm>
            <a:off x="4663440" y="1261872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344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992624" y="1261872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Continual Learning (EWC)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4992624" y="1499616"/>
            <a:ext cx="3895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Weight Consolidation to further reduce +4.29 pp source-domain forgetting during cross-domain adaptation.</a:t>
            </a:r>
            <a:endParaRPr lang="en-US" sz="920"/>
          </a:p>
        </p:txBody>
      </p:sp>
      <p:sp>
        <p:nvSpPr>
          <p:cNvPr id="35" name="Shape 33"/>
          <p:cNvSpPr/>
          <p:nvPr/>
        </p:nvSpPr>
        <p:spPr>
          <a:xfrm>
            <a:off x="4663440" y="1865376"/>
            <a:ext cx="27432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1865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4992624" y="1865376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Multi-Domain Joint Training</a:t>
            </a:r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4992624" y="2103120"/>
            <a:ext cx="3895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with domain-conditional tokens across multiple accent datasets for generalised cross-domain robustness.</a:t>
            </a:r>
            <a:endParaRPr lang="en-US" sz="920"/>
          </a:p>
        </p:txBody>
      </p:sp>
      <p:sp>
        <p:nvSpPr>
          <p:cNvPr id="39" name="Shape 37"/>
          <p:cNvSpPr/>
          <p:nvPr/>
        </p:nvSpPr>
        <p:spPr>
          <a:xfrm>
            <a:off x="4663440" y="2468880"/>
            <a:ext cx="2743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6344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iii</a:t>
            </a:r>
            <a:endParaRPr lang="en-US" sz="900"/>
          </a:p>
        </p:txBody>
      </p:sp>
      <p:sp>
        <p:nvSpPr>
          <p:cNvPr id="41" name="Text 39"/>
          <p:cNvSpPr/>
          <p:nvPr/>
        </p:nvSpPr>
        <p:spPr>
          <a:xfrm>
            <a:off x="4992624" y="246888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Self-Training Expansion</a:t>
            </a:r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4992624" y="2706624"/>
            <a:ext cx="3895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Australian English pseudo-labels for low-resource data expansion — reduce labeled data dependence.</a:t>
            </a:r>
            <a:endParaRPr lang="en-US" sz="920"/>
          </a:p>
        </p:txBody>
      </p:sp>
      <p:sp>
        <p:nvSpPr>
          <p:cNvPr id="43" name="Shape 41"/>
          <p:cNvSpPr/>
          <p:nvPr/>
        </p:nvSpPr>
        <p:spPr>
          <a:xfrm>
            <a:off x="4663440" y="3072384"/>
            <a:ext cx="27432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63440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</a:t>
            </a:r>
            <a:endParaRPr lang="en-US" sz="900"/>
          </a:p>
        </p:txBody>
      </p:sp>
      <p:sp>
        <p:nvSpPr>
          <p:cNvPr id="45" name="Text 43"/>
          <p:cNvSpPr/>
          <p:nvPr/>
        </p:nvSpPr>
        <p:spPr>
          <a:xfrm>
            <a:off x="4992624" y="3072384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Mamba-Based SSM Encoders</a:t>
            </a:r>
            <a:endParaRPr lang="en-US" sz="1050"/>
          </a:p>
        </p:txBody>
      </p:sp>
      <p:sp>
        <p:nvSpPr>
          <p:cNvPr id="46" name="Text 44"/>
          <p:cNvSpPr/>
          <p:nvPr/>
        </p:nvSpPr>
        <p:spPr>
          <a:xfrm>
            <a:off x="4992624" y="3310128"/>
            <a:ext cx="3895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Transformer attention with Samba-ASR for streaming-friendly, linear-complexity long-form transcription.</a:t>
            </a:r>
            <a:endParaRPr lang="en-US" sz="920"/>
          </a:p>
        </p:txBody>
      </p:sp>
      <p:sp>
        <p:nvSpPr>
          <p:cNvPr id="47" name="Shape 45"/>
          <p:cNvSpPr/>
          <p:nvPr/>
        </p:nvSpPr>
        <p:spPr>
          <a:xfrm>
            <a:off x="4663440" y="3675888"/>
            <a:ext cx="27432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66344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4992624" y="3675888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Quantization &amp; KD for Edge</a:t>
            </a:r>
            <a:endParaRPr lang="en-US" sz="1050"/>
          </a:p>
        </p:txBody>
      </p:sp>
      <p:sp>
        <p:nvSpPr>
          <p:cNvPr id="50" name="Text 48"/>
          <p:cNvSpPr/>
          <p:nvPr/>
        </p:nvSpPr>
        <p:spPr>
          <a:xfrm>
            <a:off x="4992624" y="3913632"/>
            <a:ext cx="3895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INT4 quantization + knowledge distillation paired with LoRA rank ablations for mobile and edge hardware deployment.</a:t>
            </a:r>
            <a:endParaRPr lang="en-US" sz="920"/>
          </a:p>
        </p:txBody>
      </p:sp>
      <p:sp>
        <p:nvSpPr>
          <p:cNvPr id="51" name="Shape 49"/>
          <p:cNvSpPr/>
          <p:nvPr/>
        </p:nvSpPr>
        <p:spPr>
          <a:xfrm>
            <a:off x="4663440" y="4279392"/>
            <a:ext cx="274320" cy="274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66344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900"/>
          </a:p>
        </p:txBody>
      </p:sp>
      <p:sp>
        <p:nvSpPr>
          <p:cNvPr id="53" name="Text 51"/>
          <p:cNvSpPr/>
          <p:nvPr/>
        </p:nvSpPr>
        <p:spPr>
          <a:xfrm>
            <a:off x="4992624" y="4279392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Fairness &amp; Perceptual Metrics</a:t>
            </a:r>
            <a:endParaRPr lang="en-US" sz="1050"/>
          </a:p>
        </p:txBody>
      </p:sp>
      <p:sp>
        <p:nvSpPr>
          <p:cNvPr id="54" name="Text 52"/>
          <p:cNvSpPr/>
          <p:nvPr/>
        </p:nvSpPr>
        <p:spPr>
          <a:xfrm>
            <a:off x="4992624" y="4517136"/>
            <a:ext cx="3895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PESQ/STOI quality, latency benchmarks, and fairness evaluation across age/gender/dialect demographic subgroups.</a:t>
            </a:r>
            <a:endParaRPr lang="en-US" sz="92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37160"/>
            <a:ext cx="437083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0" b="1">
                <a:solidFill>
                  <a:srgbClr val="0D9488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2200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 Queries?</a:t>
            </a:r>
            <a:endParaRPr lang="en-US" sz="360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discussion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5029200" y="20116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r>
              <a:rPr lang="en-US" sz="18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Summary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5029200" y="6583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WER Achieved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5029200" y="877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9%  (Whisper-Small FFT)</a:t>
            </a:r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5029200" y="11704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WER (98.1% fewer params)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029200" y="1389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13%  (only +4pp vs FFT)</a:t>
            </a:r>
            <a:endParaRPr lang="en-US" sz="1350"/>
          </a:p>
        </p:txBody>
      </p:sp>
      <p:sp>
        <p:nvSpPr>
          <p:cNvPr id="13" name="Text 11"/>
          <p:cNvSpPr/>
          <p:nvPr/>
        </p:nvSpPr>
        <p:spPr>
          <a:xfrm>
            <a:off x="5029200" y="16824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Omnilingual CER — 7 languages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5029200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sub-5%  (single adapter)</a:t>
            </a:r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5029200" y="21945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Marathi/Bengali WER reduction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5029200" y="24140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−76.3 pp  (vs 81% baseline)</a:t>
            </a:r>
            <a:endParaRPr lang="en-US" sz="1350"/>
          </a:p>
        </p:txBody>
      </p:sp>
      <p:sp>
        <p:nvSpPr>
          <p:cNvPr id="17" name="Text 15"/>
          <p:cNvSpPr/>
          <p:nvPr/>
        </p:nvSpPr>
        <p:spPr>
          <a:xfrm>
            <a:off x="5029200" y="27066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Source-domain forgetting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5029200" y="2926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+4.29 pp  (LoRA mitigates)</a:t>
            </a:r>
            <a:endParaRPr lang="en-US" sz="1350"/>
          </a:p>
        </p:txBody>
      </p:sp>
      <p:sp>
        <p:nvSpPr>
          <p:cNvPr id="19" name="Text 17"/>
          <p:cNvSpPr/>
          <p:nvPr/>
        </p:nvSpPr>
        <p:spPr>
          <a:xfrm>
            <a:off x="5029200" y="32186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5029200" y="34381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&lt; 0.001  (all key results)</a:t>
            </a:r>
            <a:endParaRPr lang="en-US" sz="1350"/>
          </a:p>
        </p:txBody>
      </p:sp>
      <p:sp>
        <p:nvSpPr>
          <p:cNvPr id="21" name="Text 19"/>
          <p:cNvSpPr/>
          <p:nvPr/>
        </p:nvSpPr>
        <p:spPr>
          <a:xfrm>
            <a:off x="5029200" y="37307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params (LoRA)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5029200" y="3950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4.7M / 244M  (98.1% frozen)</a:t>
            </a:r>
            <a:endParaRPr lang="en-US" sz="1350"/>
          </a:p>
        </p:txBody>
      </p:sp>
      <p:sp>
        <p:nvSpPr>
          <p:cNvPr id="23" name="Text 21"/>
          <p:cNvSpPr/>
          <p:nvPr/>
        </p:nvSpPr>
        <p:spPr>
          <a:xfrm>
            <a:off x="5029200" y="42428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OOV gap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5029200" y="4462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18.97% word-level CV→LS</a:t>
            </a:r>
            <a:endParaRPr lang="en-US" sz="1350"/>
          </a:p>
        </p:txBody>
      </p:sp>
      <p:sp>
        <p:nvSpPr>
          <p:cNvPr id="25" name="Text 23"/>
          <p:cNvSpPr/>
          <p:nvPr/>
        </p:nvSpPr>
        <p:spPr>
          <a:xfrm>
            <a:off x="384048" y="4835977"/>
            <a:ext cx="8558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Paper is ready to submit in IEEE</a:t>
            </a: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Group No: 7  |  MSc in AI, University of Essex  |  CE903 Group Project  |  March 2026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5404</Words>
  <Application>Microsoft Macintosh PowerPoint</Application>
  <PresentationFormat>On-screen Show (16:9)</PresentationFormat>
  <Paragraphs>924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Cross-Domain ASR with LoRA-PEFT — Group Presentation</dc:title>
  <dc:subject>PptxGenJS Presentation</dc:subject>
  <dc:creator>Hrithik Majumdar Shibu et al.</dc:creator>
  <cp:lastModifiedBy>Hrithik Majumdar</cp:lastModifiedBy>
  <cp:revision>1</cp:revision>
  <dcterms:created xsi:type="dcterms:W3CDTF">2026-03-20T21:31:45Z</dcterms:created>
  <dcterms:modified xsi:type="dcterms:W3CDTF">2026-03-23T22:13:16Z</dcterms:modified>
</cp:coreProperties>
</file>